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9fc5e7ce-e98d-e7e0-50c5-6edcd512cf54}">
          <p14:sldIdLst>
            <p14:sldId id="256"/>
            <p14:sldId id="257"/>
            <p14:sldId id="258"/>
          </p14:sldIdLst>
        </p14:section>
        <p14:section name="Решение" id="{0455f2eb-0d9c-7cff-4ec6-ce117aa38df9}">
          <p14:sldIdLst>
            <p14:sldId id="259"/>
            <p14:sldId id="260"/>
            <p14:sldId id="261"/>
          </p14:sldIdLst>
        </p14:section>
        <p14:section name="1 семестр" id="{f0339942-242b-2d56-a9a9-f5d5c25f2647}">
          <p14:sldIdLst>
            <p14:sldId id="262"/>
            <p14:sldId id="263"/>
          </p14:sldIdLst>
        </p14:section>
        <p14:section name="2 семестр" id="{fe592fb3-cc7b-2b9c-d2c5-c31185ec3dda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Итоги" id="{5a2c4a9c-026e-d340-7fd0-accef57c05c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3A8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3A8F"/>
                </a:solidFill>
                <a:latin typeface="+mn-lt"/>
              </a:rPr>
              <a:t>Состав автотестов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Тестов</c:v>
                </c:pt>
              </c:strCache>
            </c:strRef>
          </c:tx>
          <c:spPr>
            <a:solidFill>
              <a:srgbClr val="1A3A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D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Алгоритм</c:v>
                  </c:pt>
                  <c:pt idx="1">
                    <c:v>Утилиты и роутер</c:v>
                  </c:pt>
                  <c:pt idx="2">
                    <c:v>Слой данных</c:v>
                  </c:pt>
                  <c:pt idx="3">
                    <c:v>Виджет-тесты</c:v>
                  </c:pt>
                  <c:pt idx="4">
                    <c:v>Интеграционный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29</c:v>
                </c:pt>
                <c:pt idx="2">
                  <c:v>18</c:v>
                </c:pt>
                <c:pt idx="3">
                  <c:v>18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D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D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Баринов Николай, группа ПО2410. Представляю курсовой проект «Маршрут» — приложение для автоматического формирования персонального плана обучения. Руководитель — Синтиков Еркебулан Канатович. Приложение написано на Flutter и Dart и работает на Android и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 — создание приложения для автоматического формирования персонального плана обучения. Когда человек решает выучить, например, Flutter, он видит сотни статей и курсов, но не понимает, в каком порядке их проходить, сколько это займёт и успеет ли он к сроку. Готовые курсы не учитывают, что вы уже знаете и сколько у вас времени. А стоит пропустить пару дней, и расписание теряет смысл. Цель работы — приложение «Маршрут», которое само строит план по дням и перестраивает его при отставании. Целевая аудитория — студенты, самоучки и люди, которые меняют профессию. Сценарий простой: выбрал направление, прошёл тест, указал часы и дедлайн и получил план.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приложение с аналогами. roadmap.sh показывает схемы изучения технологий, но схема одна для всех и не превращается в расписание. Duolingo хорошо мотивирует ежедневной целью, но план задаёт сам сервис. Курсы на Stepik и Coursera идут в своём темпе. Планировщики вроде Notion или Todoist требуют расписывать всё вручную. «Маршрут» объединяет граф тем, учёт уровня через тест, расписание под ваше время и автоматическую перестройку, и работает без интернета. (Перед защитой сверить таблицу с актуальными версиями сервисов.)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построена по Clean Architecture и разделена на три слоя. Domain написан на чистом Dart и не знает о Flutter: здесь сущности и главный алгоритм, поэтому его легко тестировать. Data отвечает за хранение: SQLite через drift, каталог тем в JSON и настройки. Presentation — экраны и провайдеры Riverpod. Riverpod выбран вместо BLoC, потому что требует меньше шаблонного кода, и вместо Provider, потому что не зависит от BuildContext и легко подменяется в тестах. drift выбран, потому что данные связаны: у пользователя планы, у плана занятия. Hive хранит пары ключ-значение без связей, а Firebase требует облака и интернета. go_router с redirect не пускает на закрытые экраны без входа.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часть работы — алгоритм в слое domain. Направление — это граф тем: нельзя изучать Riverpod, не зная асинхронности Dart. Сначала по тесту исключаются известные темы: верный ответ по теме означает, что известны и все темы, которые нужны до неё. Затем алгоритм Кана выполняет топологическую сортировку: каждая тема идёт после своих зависимостей. Если в данных случайно появится цикл, алгоритм его найдёт. Дальше темы раскладываются по выбранным дням с дневным лимитом, после каждой темы ставятся повторения через 1, 3 и 7 дней по кривой забывания Эббингауза. Если план не укладывается в дедлайн, приложение подбирает, сколько часов в неделю нужно. В каталоге 75 тем и 113 зависимостей, алгоритм покрыт юнит-тестами.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Покажу работу алгоритма на маленьком примере: три темы по часу, каждая зависит от предыдущей, 7 часов в неделю, все дни, дедлайн 14 октября. Дневной лимит — 60 минут. Из-за повторений тема «Виджеты» делится на две части, и последняя тема заканчивается 15 октября, на день позже срока. Алгоритм это замечает и предлагает 8 часов в неделю: тогда лимит 75 минут и план укладывается в срок. В приложении это кнопка «Установить N ч/нед» на экране предпросмотра.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Покажу обязательный сценарий первого семестра. Заставка с логотипом сама переходит на вход или, если сессия сохранена, сразу на главную. Регистрация проверяет каждое поле: пустые поля, формат email, пароль из букв и цифр, совпадение паролей, уникальность email. При неверном пароле вход показывает понятное сообщение, есть ссылка на регистрацию. Пользователь хранится в базе, после входа открывается главная с прогрессом и задачами на сегодня. Пять вкладок внизу: Главная, План, Темы, Статистика, Профиль. В профиле кнопка «Выйти»: после выхода открывается вход, а закрытые экраны без входа недоступны — это делает redirect в go_router. Тот же сценарий автоматически проходит интеграционный тест.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раздел — создание плана. Пользователь выбирает одно из четырёх направлений, отвечает на вопросы диагностического теста, указывает часы в неделю, учебные дни и дедлайн. На предпросмотре видно, в каком порядке пойдут темы, сколько часов займёт изучение и повторения и когда план закончится. Кнопка «Начать обучение» сохраняет план, и задачи появляются на главной.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втором семестре я заново проверил первую версию: сверил её с критериями, с документацией пакетов, с рекомендациями OWASP по паролям, вручную посмотрел оформление и написал тесты сценариев. Нашлось восемь недостатков. Самые важные — слабое хэширование паролей, отсутствие релизной сборки и неполная настройка уведомлений Android. Все восемь исправлены: пароли теперь хэшируются PBKDF2, появилось удаление аккаунта, своя иконка, APK собирается автоматически, а тесты запускаются на каждом изменении.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втором семестре основной функционал доведён до полного объёма. Если пользователь пропустил занятия, на главной появляется баннер, и кнопка «Перестроить» переносит остаток плана вперёд, сохраняя выполненное. Можно вести несколько планов, добавлять свои темы и заметки. Из дополнительных функций — поиск, фильтры по категориям, избранное, ежедневное напоминание, таймер Pomodoro с уведомлением, история и графики прогресса на fl_chart, светлая и тёмная тема.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хранятся локально в SQLite через drift. В базе восемь таблиц: у пользователя есть планы, свои темы, заметки, избранное и история «помидоров»; план состоит из тем и занятий. Все внешние ключи объявлены с каскадным удалением: удаление плана удаляет его занятия, удаление аккаунта — все данные пользователя. Каталог направлений лежит в JSON, поэтому новое направление добавляется без изменения кода. Через интерфейс доступны все операции CRUD над планами, своими темами и заметками, а ошибки, например пустое название или занятый email, выводятся понятными сообщениями.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Профиль показывает данные пользователя и статистику, позволяет изменить имя, email и цвет аватара, сменить пароль и удалить аккаунт — для этого нужно ввести пароль ещё раз. Пароли не хранятся в открытом виде: используется PBKDF2-HMAC-SHA256 со 100 000 итераций и случайной солью. В формате хэша записано число итераций, поэтому его можно увеличить в следующей версии. Старые хэши SHA-256 из первого семестра принимаются один раз и сразу пересчитываются.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Интерфейс построен на Material 3 в фирменных цветах: тёмно-синий — спокойный фон для учёбы, оранжевым выделены кнопки действий и прогресс. Есть светлая и тёмная тема. Вёрстка адаптивная: на широком экране, например в окне Windows, нижняя навигация заменяется боковой панелью, а содержимое не растягивается шире 720 пикселей. Для пустых списков есть подсказки, а удаление всегда требует подтверждения. Все экраны проверены матрицей из 280 снимков в семи вариантах.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покрыто 97 модульными и виджет-тестами: 32 проверяют алгоритм, 18 — слой данных на базе SQLite в памяти, 18 — экраны и сценарии. Ещё есть интеграционный тест, который проходит весь сценарий в настоящем приложении. В документе 36 тест-кейсов и журнал из 24 найденных и исправленных ошибок. Перед сдачей я проверил матрицу из 280 снимков экранов. GitHub Actions на каждое изменение проверяет форматирование, запускает анализатор, все тесты, интеграционный тест и собирает APK и версию для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Пояснительная записка — 80 страниц: введение с целью и задачами, теоретическая глава с анализом аналогов и обоснованием технологий, практическая глава с архитектурой, ER-диаграммой, схемой алгоритма и скриншотами, заключение, 43 источника и приложения с кодом. Релизная сборка: APK для Android и версия для Windows собираются автоматически командой flutter build apk --release в GitHub Actions. Приложение можно установить на телефон и запустить без интернета.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Все задачи курсовой выполнены: приложение «Маршрут» строит персональный план обучения с учётом знаний, времени и дедлайна и перестраивает его при отставании. Оно построено по Clean Architecture, покрыто тестами, собирается автоматически и работает офлайн на Android и Windows. Дальнейшее развитие — синхронизация между устройствами и экспорт плана.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«Маршрут» · Баринов Николай Владимирович · ПО2410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конка приложения" descr="Иконка «Маршрут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6400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Колледж Astana IT University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035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Астана 2026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КУРСОВОЙ ПРОЕКТ · ИТОГОВАЯ ЗАЩИТА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46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Приложение для автоматического формирования персонального плана обучения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ПМ07. Разработка мобильных приложений · Flutter и Dart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Выполнил: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Баринов Николай Владимирович, группа ПО2410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Руководитель: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Синтиков Еркебулан Канатович</a:t>
            </a:r>
            <a:endParaRPr lang="en-US" sz="1500" dirty="0"/>
          </a:p>
        </p:txBody>
      </p:sp>
      <p:pic>
        <p:nvPicPr>
          <p:cNvPr id="10" name="Скриншот 05_home" descr="05_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85800"/>
            <a:ext cx="2610833" cy="5486400"/>
          </a:xfrm>
          <a:prstGeom prst="rect">
            <a:avLst/>
          </a:prstGeom>
        </p:spPr>
      </p:pic>
      <p:pic>
        <p:nvPicPr>
          <p:cNvPr id="11" name="Скриншот 19_preview" descr="19_previe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280160"/>
            <a:ext cx="228447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Проблема: учиться самому трудно без плана</a:t>
            </a:r>
            <a:endParaRPr lang="en-US" sz="3200" dirty="0"/>
          </a:p>
        </p:txBody>
      </p:sp>
      <p:sp>
        <p:nvSpPr>
          <p:cNvPr id="3" name="Проблема 1"/>
          <p:cNvSpPr/>
          <p:nvPr/>
        </p:nvSpPr>
        <p:spPr>
          <a:xfrm>
            <a:off x="548640" y="137160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Номер 1"/>
          <p:cNvSpPr/>
          <p:nvPr/>
        </p:nvSpPr>
        <p:spPr>
          <a:xfrm>
            <a:off x="777240" y="167335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Неясен порядок тем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385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Темы зависят друг от друга: виджеты Flutter не понять без основ Dart.</a:t>
            </a:r>
            <a:endParaRPr lang="en-US" sz="1400" dirty="0"/>
          </a:p>
        </p:txBody>
      </p:sp>
      <p:sp>
        <p:nvSpPr>
          <p:cNvPr id="7" name="Проблема 2"/>
          <p:cNvSpPr/>
          <p:nvPr/>
        </p:nvSpPr>
        <p:spPr>
          <a:xfrm>
            <a:off x="548640" y="283464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Номер 2"/>
          <p:cNvSpPr/>
          <p:nvPr/>
        </p:nvSpPr>
        <p:spPr>
          <a:xfrm>
            <a:off x="777240" y="313639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Не учтены знания и время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40156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Курсы дают один план для всех и свой темп, а не ваш.</a:t>
            </a:r>
            <a:endParaRPr lang="en-US" sz="1400" dirty="0"/>
          </a:p>
        </p:txBody>
      </p:sp>
      <p:sp>
        <p:nvSpPr>
          <p:cNvPr id="11" name="Проблема 3"/>
          <p:cNvSpPr/>
          <p:nvPr/>
        </p:nvSpPr>
        <p:spPr>
          <a:xfrm>
            <a:off x="548640" y="429768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Номер 3"/>
          <p:cNvSpPr/>
          <p:nvPr/>
        </p:nvSpPr>
        <p:spPr>
          <a:xfrm>
            <a:off x="777240" y="45994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План ломается при отставании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86460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Пропустил пару дней, и расписание теряет смысл. Человек бросает учёбу.</a:t>
            </a:r>
            <a:endParaRPr lang="en-US" sz="1400" dirty="0"/>
          </a:p>
        </p:txBody>
      </p:sp>
      <p:sp>
        <p:nvSpPr>
          <p:cNvPr id="15" name="Цель"/>
          <p:cNvSpPr/>
          <p:nvPr/>
        </p:nvSpPr>
        <p:spPr>
          <a:xfrm>
            <a:off x="6949440" y="1371600"/>
            <a:ext cx="4690872" cy="4160520"/>
          </a:xfrm>
          <a:prstGeom prst="roundRect">
            <a:avLst>
              <a:gd name="adj" fmla="val 2637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ЦЕЛЬ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Приложение само строит план по дням с учётом знаний, времени и дедлайна и перестраивает его при отставании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ЦЕЛЕВАЯ АУДИТОРИЯ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840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Студенты колледжей и вузов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Самоучки: программирование, языки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Те, кто меняет профессию</a:t>
            </a:r>
            <a:endParaRPr lang="en-US" sz="1500" dirty="0"/>
          </a:p>
        </p:txBody>
      </p:sp>
      <p:sp>
        <p:nvSpPr>
          <p:cNvPr id="20" name="Метка Направление"/>
          <p:cNvSpPr/>
          <p:nvPr/>
        </p:nvSpPr>
        <p:spPr>
          <a:xfrm>
            <a:off x="548640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Направление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944368" y="5760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Метка Тест"/>
          <p:cNvSpPr/>
          <p:nvPr/>
        </p:nvSpPr>
        <p:spPr>
          <a:xfrm>
            <a:off x="3355848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Тест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751576" y="5760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Метка Часы и дедлайн"/>
          <p:cNvSpPr/>
          <p:nvPr/>
        </p:nvSpPr>
        <p:spPr>
          <a:xfrm>
            <a:off x="6163056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Часы и дедлайн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58784" y="5760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Метка План по дням"/>
          <p:cNvSpPr/>
          <p:nvPr/>
        </p:nvSpPr>
        <p:spPr>
          <a:xfrm>
            <a:off x="8970264" y="576072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План по дням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Аналоги не строят персональный маршрут</a:t>
            </a:r>
            <a:endParaRPr lang="en-US" sz="3200" dirty="0"/>
          </a:p>
        </p:txBody>
      </p:sp>
      <p:graphicFrame>
        <p:nvGraphicFramePr>
          <p:cNvPr id="4" name="Таблица аналог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00200"/>
                <a:gridCol w="1600200"/>
                <a:gridCol w="1691640"/>
                <a:gridCol w="1691640"/>
                <a:gridCol w="17647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Возможность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roadmap.sh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Duolingo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Stepik / Coursera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Notion / Todoist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Маршрут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Порядок тем по зависимостям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статичная схема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внутри курса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внутри курса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автоматически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Учёт имеющихся знаний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тест уровня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диагностический тест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План по дням под своё время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ежедневная цель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дедлайны курса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вручную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Перестройка при отставании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вручную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одной кнопкой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Работа без интернета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да, всё локально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Вывод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029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Вывод: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аналоги дают материалы или задачник, но не план под конкретного человека с перестройкой при отставании.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Сравнение составлено по публичным описаниям сервисов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Архитектура: три слоя Clean Architecture</a:t>
            </a:r>
            <a:endParaRPr lang="en-US" sz="3200" dirty="0"/>
          </a:p>
        </p:txBody>
      </p:sp>
      <p:sp>
        <p:nvSpPr>
          <p:cNvPr id="3" name="Слой Presentation"/>
          <p:cNvSpPr/>
          <p:nvPr/>
        </p:nvSpPr>
        <p:spPr>
          <a:xfrm>
            <a:off x="548640" y="13716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Presentation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Экраны Material 3, провайдеры Riverpod, go_router с redirect</a:t>
            </a:r>
            <a:endParaRPr lang="en-US" sz="1400" dirty="0"/>
          </a:p>
        </p:txBody>
      </p:sp>
      <p:sp>
        <p:nvSpPr>
          <p:cNvPr id="6" name="Слой Domain · чистый Dart"/>
          <p:cNvSpPr/>
          <p:nvPr/>
        </p:nvSpPr>
        <p:spPr>
          <a:xfrm>
            <a:off x="548640" y="29718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Domain · чистый Dart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Алгоритм плана, сущности, интерфейсы репозиториев. Не зависит от Flutter</a:t>
            </a:r>
            <a:endParaRPr lang="en-US" sz="1400" dirty="0"/>
          </a:p>
        </p:txBody>
      </p:sp>
      <p:sp>
        <p:nvSpPr>
          <p:cNvPr id="9" name="Слой Data"/>
          <p:cNvSpPr/>
          <p:nvPr/>
        </p:nvSpPr>
        <p:spPr>
          <a:xfrm>
            <a:off x="548640" y="45720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66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drift (SQLite), JSON-каталог тем, настройки, уведомления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↓ вызывает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↑ реализует интерфейсы</a:t>
            </a:r>
            <a:endParaRPr lang="en-US" sz="1200" dirty="0"/>
          </a:p>
        </p:txBody>
      </p:sp>
      <p:sp>
        <p:nvSpPr>
          <p:cNvPr id="14" name="Выбор Состояние"/>
          <p:cNvSpPr/>
          <p:nvPr/>
        </p:nvSpPr>
        <p:spPr>
          <a:xfrm>
            <a:off x="6035040" y="137160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15" name="Рамка Состояние"/>
          <p:cNvSpPr/>
          <p:nvPr/>
        </p:nvSpPr>
        <p:spPr>
          <a:xfrm>
            <a:off x="6035040" y="137160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481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Состояние: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Riverpod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BLoC, Provider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828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Меньше шаблонного кода, чем BLoC; не зависит от BuildContext; зависимости подменяются в тестах</a:t>
            </a:r>
            <a:endParaRPr lang="en-US" sz="1300" dirty="0"/>
          </a:p>
        </p:txBody>
      </p:sp>
      <p:sp>
        <p:nvSpPr>
          <p:cNvPr id="18" name="Выбор Хранение"/>
          <p:cNvSpPr/>
          <p:nvPr/>
        </p:nvSpPr>
        <p:spPr>
          <a:xfrm>
            <a:off x="6035040" y="256032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19" name="Рамка Хранение"/>
          <p:cNvSpPr/>
          <p:nvPr/>
        </p:nvSpPr>
        <p:spPr>
          <a:xfrm>
            <a:off x="6035040" y="256032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Хранение: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drift (SQLite)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Hive, Firebase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017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Данные связаны: пользователь → планы → занятия. Нужны SQL-запросы и транзакции. Firebase требует облака</a:t>
            </a:r>
            <a:endParaRPr lang="en-US" sz="1300" dirty="0"/>
          </a:p>
        </p:txBody>
      </p:sp>
      <p:sp>
        <p:nvSpPr>
          <p:cNvPr id="22" name="Выбор Навигация"/>
          <p:cNvSpPr/>
          <p:nvPr/>
        </p:nvSpPr>
        <p:spPr>
          <a:xfrm>
            <a:off x="6035040" y="374904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23" name="Рамка Навигация"/>
          <p:cNvSpPr/>
          <p:nvPr/>
        </p:nvSpPr>
        <p:spPr>
          <a:xfrm>
            <a:off x="6035040" y="374904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8587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Навигация: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go_router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Navigator 1.0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206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Декларативные маршруты, redirect закрывает экраны без входа</a:t>
            </a:r>
            <a:endParaRPr lang="en-US" sz="1300" dirty="0"/>
          </a:p>
        </p:txBody>
      </p:sp>
      <p:sp>
        <p:nvSpPr>
          <p:cNvPr id="26" name="Выбор Пароли"/>
          <p:cNvSpPr/>
          <p:nvPr/>
        </p:nvSpPr>
        <p:spPr>
          <a:xfrm>
            <a:off x="6035040" y="4937760"/>
            <a:ext cx="560527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</p:spPr>
      </p:sp>
      <p:sp>
        <p:nvSpPr>
          <p:cNvPr id="27" name="Рамка Пароли"/>
          <p:cNvSpPr/>
          <p:nvPr/>
        </p:nvSpPr>
        <p:spPr>
          <a:xfrm>
            <a:off x="6035040" y="4937760"/>
            <a:ext cx="5605272" cy="1051560"/>
          </a:xfrm>
          <a:prstGeom prst="roundRect">
            <a:avLst>
              <a:gd name="adj" fmla="val 10435"/>
            </a:avLst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5047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Пароли: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PBKDF2 локально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вместо Firebase Auth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53949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Вход работает офлайн, пароль хранится только как хэш с солью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Алгоритм: план из графа тем за пять шагов</a:t>
            </a:r>
            <a:endParaRPr lang="en-US" sz="3200" dirty="0"/>
          </a:p>
        </p:txBody>
      </p:sp>
      <p:sp>
        <p:nvSpPr>
          <p:cNvPr id="3" name="Связь шагов"/>
          <p:cNvSpPr/>
          <p:nvPr/>
        </p:nvSpPr>
        <p:spPr>
          <a:xfrm>
            <a:off x="1463040" y="1737360"/>
            <a:ext cx="888796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Номер 1"/>
          <p:cNvSpPr/>
          <p:nvPr/>
        </p:nvSpPr>
        <p:spPr>
          <a:xfrm>
            <a:off x="1097280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Граф тем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Тема — вершина, ребро A → B: A нужно знать до B</a:t>
            </a:r>
            <a:endParaRPr lang="en-US" sz="1300" dirty="0"/>
          </a:p>
        </p:txBody>
      </p:sp>
      <p:sp>
        <p:nvSpPr>
          <p:cNvPr id="7" name="Номер 2"/>
          <p:cNvSpPr/>
          <p:nvPr/>
        </p:nvSpPr>
        <p:spPr>
          <a:xfrm>
            <a:off x="3319272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Исключить известное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Верный ответ в тесте: тема и её предшественники изучены</a:t>
            </a:r>
            <a:endParaRPr lang="en-US" sz="1300" dirty="0"/>
          </a:p>
        </p:txBody>
      </p:sp>
      <p:sp>
        <p:nvSpPr>
          <p:cNvPr id="10" name="Номер 3"/>
          <p:cNvSpPr/>
          <p:nvPr/>
        </p:nvSpPr>
        <p:spPr>
          <a:xfrm>
            <a:off x="5541264" y="1371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Алгоритм Кана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Топологическая сортировка, при равенстве — по сложности. Цикл обнаруживается</a:t>
            </a:r>
            <a:endParaRPr lang="en-US" sz="1300" dirty="0"/>
          </a:p>
        </p:txBody>
      </p:sp>
      <p:sp>
        <p:nvSpPr>
          <p:cNvPr id="13" name="Номер 4"/>
          <p:cNvSpPr/>
          <p:nvPr/>
        </p:nvSpPr>
        <p:spPr>
          <a:xfrm>
            <a:off x="7763256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50024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Раскладка по дням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23176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Лимит в день = часы в неделю / учебные дни, части от 30 минут</a:t>
            </a:r>
            <a:endParaRPr lang="en-US" sz="1300" dirty="0"/>
          </a:p>
        </p:txBody>
      </p:sp>
      <p:sp>
        <p:nvSpPr>
          <p:cNvPr id="16" name="Номер 5"/>
          <p:cNvSpPr/>
          <p:nvPr/>
        </p:nvSpPr>
        <p:spPr>
          <a:xfrm>
            <a:off x="9985248" y="1371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2402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Срок и повторения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45168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Повторения через 1, 3, 7 дней. Не успеваем — подбираем часы</a:t>
            </a:r>
            <a:endParaRPr lang="en-US" sz="1300" dirty="0"/>
          </a:p>
        </p:txBody>
      </p:sp>
      <p:sp>
        <p:nvSpPr>
          <p:cNvPr id="19" name="Факт тем в 4 направлениях"/>
          <p:cNvSpPr/>
          <p:nvPr/>
        </p:nvSpPr>
        <p:spPr>
          <a:xfrm>
            <a:off x="548640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тем в 4 направлениях</a:t>
            </a:r>
            <a:endParaRPr lang="en-US" sz="1400" dirty="0"/>
          </a:p>
        </p:txBody>
      </p:sp>
      <p:sp>
        <p:nvSpPr>
          <p:cNvPr id="22" name="Факт зависимостей между темами"/>
          <p:cNvSpPr/>
          <p:nvPr/>
        </p:nvSpPr>
        <p:spPr>
          <a:xfrm>
            <a:off x="3364992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93592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113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3593592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зависимостей между темами</a:t>
            </a:r>
            <a:endParaRPr lang="en-US" sz="1400" dirty="0"/>
          </a:p>
        </p:txBody>
      </p:sp>
      <p:sp>
        <p:nvSpPr>
          <p:cNvPr id="25" name="Факт дней до повторений"/>
          <p:cNvSpPr/>
          <p:nvPr/>
        </p:nvSpPr>
        <p:spPr>
          <a:xfrm>
            <a:off x="6181344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9944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 · 3 · 7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дней до повторений</a:t>
            </a:r>
            <a:endParaRPr lang="en-US" sz="1400" dirty="0"/>
          </a:p>
        </p:txBody>
      </p:sp>
      <p:sp>
        <p:nvSpPr>
          <p:cNvPr id="28" name="Факт юнит-теста алгоритма"/>
          <p:cNvSpPr/>
          <p:nvPr/>
        </p:nvSpPr>
        <p:spPr>
          <a:xfrm>
            <a:off x="8997696" y="411480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26296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32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юнит-теста алгоритма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Пример: три темы, 7 часов в неделю, дедлайн 14.10</a:t>
            </a:r>
            <a:endParaRPr lang="en-US" sz="3200" dirty="0"/>
          </a:p>
        </p:txBody>
      </p:sp>
      <p:graphicFrame>
        <p:nvGraphicFramePr>
          <p:cNvPr id="7" name="Таблица расписания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Дата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Занятие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Мин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Основы Dart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13.10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Повторение: Основы Dart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Виджеты, часть 1 из 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Виджеты, часть 2 из 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Состояние, часть 1 из 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15.10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Повторение: Основы Dart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15.10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Повторение: Виджеты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15.10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Состояние, часть 2 из 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Дневной лимит: 7 · 60 / 7 = 60 минут. Повторения занимают часть лимита.</a:t>
            </a:r>
            <a:endParaRPr lang="en-US" sz="1300" dirty="0"/>
          </a:p>
        </p:txBody>
      </p:sp>
      <p:sp>
        <p:nvSpPr>
          <p:cNvPr id="5" name="Итог примера"/>
          <p:cNvSpPr/>
          <p:nvPr/>
        </p:nvSpPr>
        <p:spPr>
          <a:xfrm>
            <a:off x="6766560" y="1371600"/>
            <a:ext cx="2743200" cy="452628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9516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ИТОГ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192024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Изучение заканчивается 15.10, на день позже дедлайна.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Приложение предупреждает и предлагает 8 ч в неделю: лимит 75 минут, последняя тема 14.10.</a:t>
            </a:r>
            <a:endParaRPr lang="en-US" sz="1600" dirty="0"/>
          </a:p>
        </p:txBody>
      </p:sp>
      <p:pic>
        <p:nvPicPr>
          <p:cNvPr id="8" name="Скриншот 19_preview" descr="Предпросмотр пла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371600"/>
            <a:ext cx="2153937" cy="45262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0" y="5989320"/>
            <a:ext cx="2519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Предпросмотр плана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Сценарий 1 семестра работает без ошибок</a:t>
            </a:r>
            <a:endParaRPr lang="en-US" sz="3200" dirty="0"/>
          </a:p>
        </p:txBody>
      </p:sp>
      <p:sp>
        <p:nvSpPr>
          <p:cNvPr id="3" name="Метка Splash"/>
          <p:cNvSpPr/>
          <p:nvPr/>
        </p:nvSpPr>
        <p:spPr>
          <a:xfrm>
            <a:off x="548640" y="1280160"/>
            <a:ext cx="9601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Splash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280160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5" name="Метка Регистрация"/>
          <p:cNvSpPr/>
          <p:nvPr/>
        </p:nvSpPr>
        <p:spPr>
          <a:xfrm>
            <a:off x="1810512" y="1280160"/>
            <a:ext cx="132588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Регистрация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136392" y="1280160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Метка Вход"/>
          <p:cNvSpPr/>
          <p:nvPr/>
        </p:nvSpPr>
        <p:spPr>
          <a:xfrm>
            <a:off x="3438144" y="1280160"/>
            <a:ext cx="7772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Вход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215384" y="1280160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Метка Главная"/>
          <p:cNvSpPr/>
          <p:nvPr/>
        </p:nvSpPr>
        <p:spPr>
          <a:xfrm>
            <a:off x="4517136" y="1280160"/>
            <a:ext cx="10058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Главная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22976" y="1280160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Метка Навигация"/>
          <p:cNvSpPr/>
          <p:nvPr/>
        </p:nvSpPr>
        <p:spPr>
          <a:xfrm>
            <a:off x="5824728" y="1280160"/>
            <a:ext cx="114300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Навигация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1280160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Метка Профиль"/>
          <p:cNvSpPr/>
          <p:nvPr/>
        </p:nvSpPr>
        <p:spPr>
          <a:xfrm>
            <a:off x="7269480" y="1280160"/>
            <a:ext cx="10058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Профиль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1280160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Метка Основной раздел"/>
          <p:cNvSpPr/>
          <p:nvPr/>
        </p:nvSpPr>
        <p:spPr>
          <a:xfrm>
            <a:off x="8577072" y="1280160"/>
            <a:ext cx="16916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Основной раздел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68712" y="1280160"/>
            <a:ext cx="30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Метка Выход"/>
          <p:cNvSpPr/>
          <p:nvPr/>
        </p:nvSpPr>
        <p:spPr>
          <a:xfrm>
            <a:off x="10570464" y="1280160"/>
            <a:ext cx="86868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Выход</a:t>
            </a:r>
            <a:endParaRPr lang="en-US" sz="1200" dirty="0"/>
          </a:p>
        </p:txBody>
      </p:sp>
      <p:pic>
        <p:nvPicPr>
          <p:cNvPr id="18" name="Скриншот 01_splash" descr="Заставка, автовхо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1849340" cy="38862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365760" y="5897880"/>
            <a:ext cx="2215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Заставка, автовход</a:t>
            </a:r>
            <a:endParaRPr lang="en-US" sz="1200" dirty="0"/>
          </a:p>
        </p:txBody>
      </p:sp>
      <p:pic>
        <p:nvPicPr>
          <p:cNvPr id="20" name="Скриншот 03_register_validation" descr="Ошибки под полям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223" y="1920240"/>
            <a:ext cx="1849340" cy="38862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676343" y="5897880"/>
            <a:ext cx="2215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Ошибки под полями</a:t>
            </a:r>
            <a:endParaRPr lang="en-US" sz="1200" dirty="0"/>
          </a:p>
        </p:txBody>
      </p:sp>
      <p:pic>
        <p:nvPicPr>
          <p:cNvPr id="22" name="Скриншот 04_login_error" descr="Неверный парол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06" y="1920240"/>
            <a:ext cx="1849340" cy="3886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86926" y="5897880"/>
            <a:ext cx="2215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Неверный пароль</a:t>
            </a:r>
            <a:endParaRPr lang="en-US" sz="1200" dirty="0"/>
          </a:p>
        </p:txBody>
      </p:sp>
      <p:pic>
        <p:nvPicPr>
          <p:cNvPr id="24" name="Скриншот 05_home" descr="Прогресс и задач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89" y="1920240"/>
            <a:ext cx="1849340" cy="3886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97509" y="5897880"/>
            <a:ext cx="2215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Прогресс и задачи</a:t>
            </a:r>
            <a:endParaRPr lang="en-US" sz="1200" dirty="0"/>
          </a:p>
        </p:txBody>
      </p:sp>
      <p:pic>
        <p:nvPicPr>
          <p:cNvPr id="26" name="Скриншот 10_profile" descr="Профиль и «Выйти»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972" y="1920240"/>
            <a:ext cx="1849340" cy="3886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08092" y="5897880"/>
            <a:ext cx="2215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Профиль и «Выйти»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Основной раздел: план за четыре шага</a:t>
            </a:r>
            <a:endParaRPr lang="en-US" sz="3200" dirty="0"/>
          </a:p>
        </p:txBody>
      </p:sp>
      <p:pic>
        <p:nvPicPr>
          <p:cNvPr id="3" name="Скриншот 16_direction" descr="16_dir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871097" cy="3931920"/>
          </a:xfrm>
          <a:prstGeom prst="rect">
            <a:avLst/>
          </a:prstGeom>
        </p:spPr>
      </p:pic>
      <p:sp>
        <p:nvSpPr>
          <p:cNvPr id="4" name="Номер 1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5349240"/>
            <a:ext cx="14596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Направление</a:t>
            </a:r>
            <a:endParaRPr lang="en-US" sz="1300" dirty="0"/>
          </a:p>
        </p:txBody>
      </p:sp>
      <p:pic>
        <p:nvPicPr>
          <p:cNvPr id="6" name="Скриншот 17_diagnostic" descr="17_diagnost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57" y="1325880"/>
            <a:ext cx="1871097" cy="3931920"/>
          </a:xfrm>
          <a:prstGeom prst="rect">
            <a:avLst/>
          </a:prstGeom>
        </p:spPr>
      </p:pic>
      <p:sp>
        <p:nvSpPr>
          <p:cNvPr id="7" name="Номер 2"/>
          <p:cNvSpPr/>
          <p:nvPr/>
        </p:nvSpPr>
        <p:spPr>
          <a:xfrm>
            <a:off x="2694057" y="5440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196977" y="5349240"/>
            <a:ext cx="14596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Диагностический тест</a:t>
            </a:r>
            <a:endParaRPr lang="en-US" sz="1300" dirty="0"/>
          </a:p>
        </p:txBody>
      </p:sp>
      <p:pic>
        <p:nvPicPr>
          <p:cNvPr id="9" name="Скриншот 18_schedule" descr="18_schedu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73" y="1325880"/>
            <a:ext cx="1871097" cy="3931920"/>
          </a:xfrm>
          <a:prstGeom prst="rect">
            <a:avLst/>
          </a:prstGeom>
        </p:spPr>
      </p:pic>
      <p:sp>
        <p:nvSpPr>
          <p:cNvPr id="10" name="Номер 3"/>
          <p:cNvSpPr/>
          <p:nvPr/>
        </p:nvSpPr>
        <p:spPr>
          <a:xfrm>
            <a:off x="4839473" y="5440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342393" y="5349240"/>
            <a:ext cx="14596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Часы, дни, дедлайн</a:t>
            </a:r>
            <a:endParaRPr lang="en-US" sz="1300" dirty="0"/>
          </a:p>
        </p:txBody>
      </p:sp>
      <p:pic>
        <p:nvPicPr>
          <p:cNvPr id="12" name="Скриншот 19_preview" descr="19_previe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890" y="1325880"/>
            <a:ext cx="1871097" cy="3931920"/>
          </a:xfrm>
          <a:prstGeom prst="rect">
            <a:avLst/>
          </a:prstGeom>
        </p:spPr>
      </p:pic>
      <p:sp>
        <p:nvSpPr>
          <p:cNvPr id="13" name="Номер 4"/>
          <p:cNvSpPr/>
          <p:nvPr/>
        </p:nvSpPr>
        <p:spPr>
          <a:xfrm>
            <a:off x="6984890" y="5440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7487810" y="5349240"/>
            <a:ext cx="14596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Готовый план</a:t>
            </a:r>
            <a:endParaRPr lang="en-US" sz="1300" dirty="0"/>
          </a:p>
        </p:txBody>
      </p:sp>
      <p:sp>
        <p:nvSpPr>
          <p:cNvPr id="15" name="Пояснение"/>
          <p:cNvSpPr/>
          <p:nvPr/>
        </p:nvSpPr>
        <p:spPr>
          <a:xfrm>
            <a:off x="9176027" y="1325880"/>
            <a:ext cx="2464285" cy="4617720"/>
          </a:xfrm>
          <a:prstGeom prst="roundRect">
            <a:avLst>
              <a:gd name="adj" fmla="val 4453"/>
            </a:avLst>
          </a:prstGeom>
          <a:solidFill>
            <a:schemeClr val="bg2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9404627" y="1554480"/>
            <a:ext cx="200708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направления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Flutter, Python, английский A1–B1, алгоритмы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32 вопроса теста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исключают уже знакомые темы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Предпросмотр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порядок тем, часы и дата окончания до старта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Анализ версии 1 семестра: 8 недостатков исправлены</a:t>
            </a:r>
            <a:endParaRPr lang="en-US" sz="3200" dirty="0"/>
          </a:p>
        </p:txBody>
      </p:sp>
      <p:graphicFrame>
        <p:nvGraphicFramePr>
          <p:cNvPr id="10" name="Таблица недостатк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4223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Недостаток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Приоритет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сделано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Пароль — однократный SHA-256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Высокий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PBKDF2-HMAC-SHA256, 100 000 итераций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 удаления аккаунта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Средний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Удаление с паролем и каскадом данных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 настроены уведомления Android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Высокий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Приёмники, RECEIVE_BOOT_COMPLETED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Цветной значок уведомления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Низкий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Белый векторный значок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Иконка Flutter и имя «marshrut»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Средний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Своя иконка и название «Маршрут»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 релизного APK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Высокий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APK и Windows собираются автоматически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Тесты только вручную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Средний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GitHub Actions на каждое изменение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Сценарии 2 семестра без тестов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Средний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Виджет-тесты CRUD, найдена ошибка № 12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Как искали: сверка с критериями, документацией пакетов и рекомендациями OWASP, ручная проверка, новые тесты сценариев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Полный функционал и дополнительные возможности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Основные сценарии связаны между собой: отметка занятия меняет прогресс, статистику и план</a:t>
            </a:r>
            <a:endParaRPr lang="en-US" sz="1500" dirty="0"/>
          </a:p>
        </p:txBody>
      </p:sp>
      <p:sp>
        <p:nvSpPr>
          <p:cNvPr id="4" name="Метка Перепланирование"/>
          <p:cNvSpPr/>
          <p:nvPr/>
        </p:nvSpPr>
        <p:spPr>
          <a:xfrm>
            <a:off x="548640" y="2377440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Перепланирование</a:t>
            </a:r>
            <a:endParaRPr lang="en-US" sz="1300" dirty="0"/>
          </a:p>
        </p:txBody>
      </p:sp>
      <p:sp>
        <p:nvSpPr>
          <p:cNvPr id="5" name="Метка Pomodoro"/>
          <p:cNvSpPr/>
          <p:nvPr/>
        </p:nvSpPr>
        <p:spPr>
          <a:xfrm>
            <a:off x="2560320" y="2377440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Pomodoro</a:t>
            </a:r>
            <a:endParaRPr lang="en-US" sz="1300" dirty="0"/>
          </a:p>
        </p:txBody>
      </p:sp>
      <p:sp>
        <p:nvSpPr>
          <p:cNvPr id="6" name="Метка Несколько планов"/>
          <p:cNvSpPr/>
          <p:nvPr/>
        </p:nvSpPr>
        <p:spPr>
          <a:xfrm>
            <a:off x="548640" y="2889504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Несколько планов</a:t>
            </a:r>
            <a:endParaRPr lang="en-US" sz="1300" dirty="0"/>
          </a:p>
        </p:txBody>
      </p:sp>
      <p:sp>
        <p:nvSpPr>
          <p:cNvPr id="7" name="Метка Свои темы"/>
          <p:cNvSpPr/>
          <p:nvPr/>
        </p:nvSpPr>
        <p:spPr>
          <a:xfrm>
            <a:off x="2560320" y="2889504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Свои темы</a:t>
            </a:r>
            <a:endParaRPr lang="en-US" sz="1300" dirty="0"/>
          </a:p>
        </p:txBody>
      </p:sp>
      <p:sp>
        <p:nvSpPr>
          <p:cNvPr id="8" name="Метка Заметки"/>
          <p:cNvSpPr/>
          <p:nvPr/>
        </p:nvSpPr>
        <p:spPr>
          <a:xfrm>
            <a:off x="548640" y="3401568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Заметки</a:t>
            </a:r>
            <a:endParaRPr lang="en-US" sz="1300" dirty="0"/>
          </a:p>
        </p:txBody>
      </p:sp>
      <p:sp>
        <p:nvSpPr>
          <p:cNvPr id="9" name="Метка Поиск"/>
          <p:cNvSpPr/>
          <p:nvPr/>
        </p:nvSpPr>
        <p:spPr>
          <a:xfrm>
            <a:off x="2560320" y="3401568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Поиск</a:t>
            </a:r>
            <a:endParaRPr lang="en-US" sz="1300" dirty="0"/>
          </a:p>
        </p:txBody>
      </p:sp>
      <p:sp>
        <p:nvSpPr>
          <p:cNvPr id="10" name="Метка Фильтры"/>
          <p:cNvSpPr/>
          <p:nvPr/>
        </p:nvSpPr>
        <p:spPr>
          <a:xfrm>
            <a:off x="548640" y="3913632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Фильтры</a:t>
            </a:r>
            <a:endParaRPr lang="en-US" sz="1300" dirty="0"/>
          </a:p>
        </p:txBody>
      </p:sp>
      <p:sp>
        <p:nvSpPr>
          <p:cNvPr id="11" name="Метка Избранное"/>
          <p:cNvSpPr/>
          <p:nvPr/>
        </p:nvSpPr>
        <p:spPr>
          <a:xfrm>
            <a:off x="2560320" y="3913632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Избранное</a:t>
            </a:r>
            <a:endParaRPr lang="en-US" sz="1300" dirty="0"/>
          </a:p>
        </p:txBody>
      </p:sp>
      <p:sp>
        <p:nvSpPr>
          <p:cNvPr id="12" name="Метка Категории"/>
          <p:cNvSpPr/>
          <p:nvPr/>
        </p:nvSpPr>
        <p:spPr>
          <a:xfrm>
            <a:off x="548640" y="4425696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Категории</a:t>
            </a:r>
            <a:endParaRPr lang="en-US" sz="1300" dirty="0"/>
          </a:p>
        </p:txBody>
      </p:sp>
      <p:sp>
        <p:nvSpPr>
          <p:cNvPr id="13" name="Метка Уведомления"/>
          <p:cNvSpPr/>
          <p:nvPr/>
        </p:nvSpPr>
        <p:spPr>
          <a:xfrm>
            <a:off x="2560320" y="4425696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Уведомления</a:t>
            </a:r>
            <a:endParaRPr lang="en-US" sz="1300" dirty="0"/>
          </a:p>
        </p:txBody>
      </p:sp>
      <p:sp>
        <p:nvSpPr>
          <p:cNvPr id="14" name="Метка История"/>
          <p:cNvSpPr/>
          <p:nvPr/>
        </p:nvSpPr>
        <p:spPr>
          <a:xfrm>
            <a:off x="548640" y="4937760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История</a:t>
            </a:r>
            <a:endParaRPr lang="en-US" sz="1300" dirty="0"/>
          </a:p>
        </p:txBody>
      </p:sp>
      <p:sp>
        <p:nvSpPr>
          <p:cNvPr id="15" name="Метка Графики"/>
          <p:cNvSpPr/>
          <p:nvPr/>
        </p:nvSpPr>
        <p:spPr>
          <a:xfrm>
            <a:off x="2560320" y="4937760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Графики</a:t>
            </a:r>
            <a:endParaRPr lang="en-US" sz="1300" dirty="0"/>
          </a:p>
        </p:txBody>
      </p:sp>
      <p:sp>
        <p:nvSpPr>
          <p:cNvPr id="16" name="Метка Тёмная тема"/>
          <p:cNvSpPr/>
          <p:nvPr/>
        </p:nvSpPr>
        <p:spPr>
          <a:xfrm>
            <a:off x="548640" y="5449824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Тёмная тема</a:t>
            </a:r>
            <a:endParaRPr lang="en-US" sz="1300" dirty="0"/>
          </a:p>
        </p:txBody>
      </p:sp>
      <p:sp>
        <p:nvSpPr>
          <p:cNvPr id="17" name="Метка Windows"/>
          <p:cNvSpPr/>
          <p:nvPr/>
        </p:nvSpPr>
        <p:spPr>
          <a:xfrm>
            <a:off x="2560320" y="5449824"/>
            <a:ext cx="1874520" cy="402336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Windows</a:t>
            </a:r>
            <a:endParaRPr lang="en-US" sz="1300" dirty="0"/>
          </a:p>
        </p:txBody>
      </p:sp>
      <p:pic>
        <p:nvPicPr>
          <p:cNvPr id="18" name="Скриншот 06_plan" descr="План по дня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8963" y="1325880"/>
            <a:ext cx="2110423" cy="44348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486083" y="5852160"/>
            <a:ext cx="24761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План по дням</a:t>
            </a:r>
            <a:endParaRPr lang="en-US" sz="1200" dirty="0"/>
          </a:p>
        </p:txBody>
      </p:sp>
      <p:pic>
        <p:nvPicPr>
          <p:cNvPr id="20" name="Скриншот 09_stats" descr="Статисти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426" y="1325880"/>
            <a:ext cx="2110423" cy="44348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916546" y="5852160"/>
            <a:ext cx="24761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Статистика</a:t>
            </a:r>
            <a:endParaRPr lang="en-US" sz="1200" dirty="0"/>
          </a:p>
        </p:txBody>
      </p:sp>
      <p:pic>
        <p:nvPicPr>
          <p:cNvPr id="22" name="Скриншот 12_pomodoro" descr="Pomodo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889" y="1325880"/>
            <a:ext cx="2110423" cy="44348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347009" y="5852160"/>
            <a:ext cx="24761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Pomodoro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Данные: 8 связанных таблиц SQLite</a:t>
            </a:r>
            <a:endParaRPr lang="en-US" sz="3200" dirty="0"/>
          </a:p>
        </p:txBody>
      </p:sp>
      <p:sp>
        <p:nvSpPr>
          <p:cNvPr id="3" name="Таблица users"/>
          <p:cNvSpPr/>
          <p:nvPr/>
        </p:nvSpPr>
        <p:spPr>
          <a:xfrm>
            <a:off x="548640" y="3337560"/>
            <a:ext cx="182880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пользователи</a:t>
            </a:r>
            <a:endParaRPr lang="en-US" sz="1400" dirty="0"/>
          </a:p>
        </p:txBody>
      </p:sp>
      <p:sp>
        <p:nvSpPr>
          <p:cNvPr id="4" name="Таблица plans"/>
          <p:cNvSpPr/>
          <p:nvPr/>
        </p:nvSpPr>
        <p:spPr>
          <a:xfrm>
            <a:off x="3108960" y="1600200"/>
            <a:ext cx="201168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планы</a:t>
            </a:r>
            <a:endParaRPr lang="en-US" sz="1400" dirty="0"/>
          </a:p>
        </p:txBody>
      </p:sp>
      <p:sp>
        <p:nvSpPr>
          <p:cNvPr id="5" name="Связь"/>
          <p:cNvSpPr/>
          <p:nvPr/>
        </p:nvSpPr>
        <p:spPr>
          <a:xfrm flipV="1">
            <a:off x="2377440" y="1883664"/>
            <a:ext cx="731520" cy="17373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Таблица custom_topics"/>
          <p:cNvSpPr/>
          <p:nvPr/>
        </p:nvSpPr>
        <p:spPr>
          <a:xfrm>
            <a:off x="3108960" y="2468880"/>
            <a:ext cx="2011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custom_topics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свои темы</a:t>
            </a:r>
            <a:endParaRPr lang="en-US" sz="1400" dirty="0"/>
          </a:p>
        </p:txBody>
      </p:sp>
      <p:sp>
        <p:nvSpPr>
          <p:cNvPr id="7" name="Связь"/>
          <p:cNvSpPr/>
          <p:nvPr/>
        </p:nvSpPr>
        <p:spPr>
          <a:xfrm flipV="1">
            <a:off x="2377440" y="2752344"/>
            <a:ext cx="73152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Таблица notes"/>
          <p:cNvSpPr/>
          <p:nvPr/>
        </p:nvSpPr>
        <p:spPr>
          <a:xfrm>
            <a:off x="3108960" y="3337560"/>
            <a:ext cx="2011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заметки</a:t>
            </a:r>
            <a:endParaRPr lang="en-US" sz="1400" dirty="0"/>
          </a:p>
        </p:txBody>
      </p:sp>
      <p:sp>
        <p:nvSpPr>
          <p:cNvPr id="9" name="Связь"/>
          <p:cNvSpPr/>
          <p:nvPr/>
        </p:nvSpPr>
        <p:spPr>
          <a:xfrm>
            <a:off x="2377440" y="3621024"/>
            <a:ext cx="73152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Таблица favorites"/>
          <p:cNvSpPr/>
          <p:nvPr/>
        </p:nvSpPr>
        <p:spPr>
          <a:xfrm>
            <a:off x="3108960" y="4206240"/>
            <a:ext cx="2011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favorites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избранное</a:t>
            </a:r>
            <a:endParaRPr lang="en-US" sz="1400" dirty="0"/>
          </a:p>
        </p:txBody>
      </p:sp>
      <p:sp>
        <p:nvSpPr>
          <p:cNvPr id="11" name="Связь"/>
          <p:cNvSpPr/>
          <p:nvPr/>
        </p:nvSpPr>
        <p:spPr>
          <a:xfrm>
            <a:off x="2377440" y="3621024"/>
            <a:ext cx="73152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Таблица pomodoro_logs"/>
          <p:cNvSpPr/>
          <p:nvPr/>
        </p:nvSpPr>
        <p:spPr>
          <a:xfrm>
            <a:off x="3108960" y="5074920"/>
            <a:ext cx="2011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pomodoro_logs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помидоры</a:t>
            </a:r>
            <a:endParaRPr lang="en-US" sz="1400" dirty="0"/>
          </a:p>
        </p:txBody>
      </p:sp>
      <p:sp>
        <p:nvSpPr>
          <p:cNvPr id="13" name="Связь"/>
          <p:cNvSpPr/>
          <p:nvPr/>
        </p:nvSpPr>
        <p:spPr>
          <a:xfrm>
            <a:off x="2377440" y="3621024"/>
            <a:ext cx="731520" cy="17373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Таблица plan_topics"/>
          <p:cNvSpPr/>
          <p:nvPr/>
        </p:nvSpPr>
        <p:spPr>
          <a:xfrm>
            <a:off x="5852160" y="1325880"/>
            <a:ext cx="2011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plan_topics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темы плана</a:t>
            </a:r>
            <a:endParaRPr lang="en-US" sz="1400" dirty="0"/>
          </a:p>
        </p:txBody>
      </p:sp>
      <p:sp>
        <p:nvSpPr>
          <p:cNvPr id="15" name="Связь"/>
          <p:cNvSpPr/>
          <p:nvPr/>
        </p:nvSpPr>
        <p:spPr>
          <a:xfrm flipV="1">
            <a:off x="5120640" y="1609344"/>
            <a:ext cx="731520" cy="2743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Таблица sessions"/>
          <p:cNvSpPr/>
          <p:nvPr/>
        </p:nvSpPr>
        <p:spPr>
          <a:xfrm>
            <a:off x="5852160" y="2240280"/>
            <a:ext cx="2011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sessions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занятия</a:t>
            </a:r>
            <a:endParaRPr lang="en-US" sz="1400" dirty="0"/>
          </a:p>
        </p:txBody>
      </p:sp>
      <p:sp>
        <p:nvSpPr>
          <p:cNvPr id="17" name="Связь"/>
          <p:cNvSpPr/>
          <p:nvPr/>
        </p:nvSpPr>
        <p:spPr>
          <a:xfrm>
            <a:off x="5120640" y="1883664"/>
            <a:ext cx="731520" cy="6400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Каскад"/>
          <p:cNvSpPr/>
          <p:nvPr/>
        </p:nvSpPr>
        <p:spPr>
          <a:xfrm>
            <a:off x="5852160" y="3429000"/>
            <a:ext cx="2103120" cy="21945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356616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1 :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 DELETE CASCADE: удаление аккаунта удаляет все его данные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52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Каталог тем — JSON в assets: новое направление без изменения кода</a:t>
            </a:r>
            <a:endParaRPr lang="en-US" sz="1200" dirty="0"/>
          </a:p>
        </p:txBody>
      </p:sp>
      <p:sp>
        <p:nvSpPr>
          <p:cNvPr id="21" name="CRUD"/>
          <p:cNvSpPr/>
          <p:nvPr/>
        </p:nvSpPr>
        <p:spPr>
          <a:xfrm>
            <a:off x="8275320" y="1325880"/>
            <a:ext cx="3364992" cy="4526280"/>
          </a:xfrm>
          <a:prstGeom prst="roundRect">
            <a:avLst>
              <a:gd name="adj" fmla="val 326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CRUD ЧЕРЕЗ ИНТЕРФЕЙС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1874520"/>
            <a:ext cx="2971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Планы: создать, переименовать, сделать активным, удалить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Свои темы и заметки: создать, найти, изменить, удалить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Профиль: изменить, аккаунт: удалить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Ошибки: понятные сообщения, пустые состояния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Профиль и безопасность</a:t>
            </a:r>
            <a:endParaRPr lang="en-US" sz="3200" dirty="0"/>
          </a:p>
        </p:txBody>
      </p:sp>
      <p:pic>
        <p:nvPicPr>
          <p:cNvPr id="3" name="Скриншот 10_profile" descr="Профил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153937" cy="4526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5943600"/>
            <a:ext cx="2519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Профиль</a:t>
            </a:r>
            <a:endParaRPr lang="en-US" sz="1200" dirty="0"/>
          </a:p>
        </p:txBody>
      </p:sp>
      <p:pic>
        <p:nvPicPr>
          <p:cNvPr id="5" name="Скриншот 25_delete_account" descr="Удаление аккаун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337" y="1325880"/>
            <a:ext cx="2153937" cy="4526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885457" y="5943600"/>
            <a:ext cx="25196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Удаление аккаунта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770914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Профиль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770914" y="1828800"/>
            <a:ext cx="58693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Редактирование имени, email и цвета аватара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Смена пароля с проверкой текущего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Тема оформления и ежедневное напоминание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Удаление аккаунта с подтверждением паролем</a:t>
            </a:r>
            <a:endParaRPr lang="en-US" sz="1500" dirty="0"/>
          </a:p>
        </p:txBody>
      </p:sp>
      <p:sp>
        <p:nvSpPr>
          <p:cNvPr id="9" name="Безопасность"/>
          <p:cNvSpPr/>
          <p:nvPr/>
        </p:nvSpPr>
        <p:spPr>
          <a:xfrm>
            <a:off x="5770914" y="3749040"/>
            <a:ext cx="5869398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045234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100 000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6045234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итераций PBKDF2-HMAC-SHA256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879874" y="3977640"/>
            <a:ext cx="25318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Соль 16 байт. Старые хэши SHA-256 пересчитываются при входе. Расчёт в фоновом изоляте не тормозит интерфейс.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UI/UX: одна система на телефоне и компьютере</a:t>
            </a:r>
            <a:endParaRPr lang="en-US" sz="3200" dirty="0"/>
          </a:p>
        </p:txBody>
      </p:sp>
      <p:pic>
        <p:nvPicPr>
          <p:cNvPr id="3" name="Скриншот Windows" descr="Главная в окне Win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38053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14105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Material 3, тёмно-синий и оранжевый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Боковая панель вместо нижней от 840 px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Пустые состояния и подтверждение необратимых действий</a:t>
            </a:r>
            <a:endParaRPr lang="en-US" sz="1300" dirty="0"/>
          </a:p>
        </p:txBody>
      </p:sp>
      <p:pic>
        <p:nvPicPr>
          <p:cNvPr id="5" name="Скриншот 20_home_dark" descr="Тёмная тем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537" y="1325880"/>
            <a:ext cx="1936368" cy="4069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64657" y="5486400"/>
            <a:ext cx="2302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Тёмная тема</a:t>
            </a:r>
            <a:endParaRPr lang="en-US" sz="1200" dirty="0"/>
          </a:p>
        </p:txBody>
      </p:sp>
      <p:pic>
        <p:nvPicPr>
          <p:cNvPr id="7" name="Скриншот 21_stats_dark" descr="График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944" y="1325880"/>
            <a:ext cx="1936368" cy="40690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521064" y="5486400"/>
            <a:ext cx="2302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Графики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Тестирование: 97 автотестов и 24 исправленные ошибки</a:t>
            </a:r>
            <a:endParaRPr lang="en-US" sz="3200" dirty="0"/>
          </a:p>
        </p:txBody>
      </p:sp>
      <p:sp>
        <p:nvSpPr>
          <p:cNvPr id="3" name="Факт модульных и виджет-тестов"/>
          <p:cNvSpPr/>
          <p:nvPr/>
        </p:nvSpPr>
        <p:spPr>
          <a:xfrm>
            <a:off x="548640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модульных и виджет-тестов</a:t>
            </a:r>
            <a:endParaRPr lang="en-US" sz="1300" dirty="0"/>
          </a:p>
        </p:txBody>
      </p:sp>
      <p:sp>
        <p:nvSpPr>
          <p:cNvPr id="6" name="Факт тест-кейсов"/>
          <p:cNvSpPr/>
          <p:nvPr/>
        </p:nvSpPr>
        <p:spPr>
          <a:xfrm>
            <a:off x="3364992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93592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тест-кейсов</a:t>
            </a:r>
            <a:endParaRPr lang="en-US" sz="1300" dirty="0"/>
          </a:p>
        </p:txBody>
      </p:sp>
      <p:sp>
        <p:nvSpPr>
          <p:cNvPr id="9" name="Факт снимков экранов проверено"/>
          <p:cNvSpPr/>
          <p:nvPr/>
        </p:nvSpPr>
        <p:spPr>
          <a:xfrm>
            <a:off x="6181344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9944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280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снимков экранов проверено</a:t>
            </a:r>
            <a:endParaRPr lang="en-US" sz="1300" dirty="0"/>
          </a:p>
        </p:txBody>
      </p:sp>
      <p:sp>
        <p:nvSpPr>
          <p:cNvPr id="12" name="Факт ошибки найдены и исправлены"/>
          <p:cNvSpPr/>
          <p:nvPr/>
        </p:nvSpPr>
        <p:spPr>
          <a:xfrm>
            <a:off x="8997696" y="132588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26296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ошибки найдены и исправлены</a:t>
            </a:r>
            <a:endParaRPr lang="en-US" sz="1300" dirty="0"/>
          </a:p>
        </p:txBody>
      </p:sp>
      <p:graphicFrame>
        <p:nvGraphicFramePr>
          <p:cNvPr id="15" name="Диаграмма тестов" descr=""/>
          <p:cNvGraphicFramePr/>
          <p:nvPr/>
        </p:nvGraphicFramePr>
        <p:xfrm>
          <a:off x="548640" y="301752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I"/>
          <p:cNvSpPr/>
          <p:nvPr/>
        </p:nvSpPr>
        <p:spPr>
          <a:xfrm>
            <a:off x="6949440" y="3017520"/>
            <a:ext cx="4690872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7804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4"/>
                </a:solidFill>
              </a:rPr>
              <a:t>GITHUB ACTIONS НА КАЖДОЕ ИЗМЕНЕНИЕ</a:t>
            </a:r>
            <a:endParaRPr lang="en-US" sz="1300" dirty="0"/>
          </a:p>
        </p:txBody>
      </p:sp>
      <p:sp>
        <p:nvSpPr>
          <p:cNvPr id="18" name="Номер 1"/>
          <p:cNvSpPr/>
          <p:nvPr/>
        </p:nvSpPr>
        <p:spPr>
          <a:xfrm>
            <a:off x="7178040" y="3657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3657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Форматирование и flutter analyze</a:t>
            </a:r>
            <a:endParaRPr lang="en-US" sz="1400" dirty="0"/>
          </a:p>
        </p:txBody>
      </p:sp>
      <p:sp>
        <p:nvSpPr>
          <p:cNvPr id="20" name="Номер 2"/>
          <p:cNvSpPr/>
          <p:nvPr/>
        </p:nvSpPr>
        <p:spPr>
          <a:xfrm>
            <a:off x="7178040" y="4224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26680" y="4224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Все модульные и виджет-тесты</a:t>
            </a:r>
            <a:endParaRPr lang="en-US" sz="1400" dirty="0"/>
          </a:p>
        </p:txBody>
      </p:sp>
      <p:sp>
        <p:nvSpPr>
          <p:cNvPr id="22" name="Номер 3"/>
          <p:cNvSpPr/>
          <p:nvPr/>
        </p:nvSpPr>
        <p:spPr>
          <a:xfrm>
            <a:off x="7178040" y="47914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47914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Интеграционный тест в Linux</a:t>
            </a:r>
            <a:endParaRPr lang="en-US" sz="1400" dirty="0"/>
          </a:p>
        </p:txBody>
      </p:sp>
      <p:sp>
        <p:nvSpPr>
          <p:cNvPr id="24" name="Номер 4"/>
          <p:cNvSpPr/>
          <p:nvPr/>
        </p:nvSpPr>
        <p:spPr>
          <a:xfrm>
            <a:off x="7178040" y="53583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26680" y="5358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Сборка APK и версии для Windows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Курсовая работа и релизная сборка</a:t>
            </a:r>
            <a:endParaRPr lang="en-US" sz="3200" dirty="0"/>
          </a:p>
        </p:txBody>
      </p:sp>
      <p:sp>
        <p:nvSpPr>
          <p:cNvPr id="3" name="Раздел Введение"/>
          <p:cNvSpPr/>
          <p:nvPr/>
        </p:nvSpPr>
        <p:spPr>
          <a:xfrm>
            <a:off x="548640" y="1325880"/>
            <a:ext cx="324612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44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Введение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актуальность, цель, 8 задач</a:t>
            </a:r>
            <a:endParaRPr lang="en-US" sz="1200" dirty="0"/>
          </a:p>
        </p:txBody>
      </p:sp>
      <p:sp>
        <p:nvSpPr>
          <p:cNvPr id="6" name="Раздел Глава 1"/>
          <p:cNvSpPr/>
          <p:nvPr/>
        </p:nvSpPr>
        <p:spPr>
          <a:xfrm>
            <a:off x="3977640" y="1325880"/>
            <a:ext cx="324612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78808" y="1444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Глава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178808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предметная область, аналоги, выбор технологий</a:t>
            </a:r>
            <a:endParaRPr lang="en-US" sz="1200" dirty="0"/>
          </a:p>
        </p:txBody>
      </p:sp>
      <p:sp>
        <p:nvSpPr>
          <p:cNvPr id="9" name="Раздел Глава 2"/>
          <p:cNvSpPr/>
          <p:nvPr/>
        </p:nvSpPr>
        <p:spPr>
          <a:xfrm>
            <a:off x="548640" y="2468880"/>
            <a:ext cx="324612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587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Глава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44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архитектура, ER-диаграмма, алгоритм, экраны, тесты</a:t>
            </a:r>
            <a:endParaRPr lang="en-US" sz="1200" dirty="0"/>
          </a:p>
        </p:txBody>
      </p:sp>
      <p:sp>
        <p:nvSpPr>
          <p:cNvPr id="12" name="Раздел Заключение"/>
          <p:cNvSpPr/>
          <p:nvPr/>
        </p:nvSpPr>
        <p:spPr>
          <a:xfrm>
            <a:off x="3977640" y="2468880"/>
            <a:ext cx="324612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78808" y="2587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Заключение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78808" y="2944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результаты по каждой задаче</a:t>
            </a:r>
            <a:endParaRPr lang="en-US" sz="1200" dirty="0"/>
          </a:p>
        </p:txBody>
      </p:sp>
      <p:sp>
        <p:nvSpPr>
          <p:cNvPr id="15" name="Раздел Литература"/>
          <p:cNvSpPr/>
          <p:nvPr/>
        </p:nvSpPr>
        <p:spPr>
          <a:xfrm>
            <a:off x="548640" y="3611880"/>
            <a:ext cx="324612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730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Литература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087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43 источника по ГОСТ</a:t>
            </a:r>
            <a:endParaRPr lang="en-US" sz="1200" dirty="0"/>
          </a:p>
        </p:txBody>
      </p:sp>
      <p:sp>
        <p:nvSpPr>
          <p:cNvPr id="18" name="Раздел Приложения А–И"/>
          <p:cNvSpPr/>
          <p:nvPr/>
        </p:nvSpPr>
        <p:spPr>
          <a:xfrm>
            <a:off x="3977640" y="3611880"/>
            <a:ext cx="324612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78808" y="3730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Приложения А–И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178808" y="4087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код ключевых модулей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80 страниц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· Times New Roman 14, интервал 1,5 · DOCX и PDF</a:t>
            </a:r>
            <a:endParaRPr lang="en-US" sz="1400" dirty="0"/>
          </a:p>
        </p:txBody>
      </p:sp>
      <p:sp>
        <p:nvSpPr>
          <p:cNvPr id="22" name="Релиз"/>
          <p:cNvSpPr/>
          <p:nvPr/>
        </p:nvSpPr>
        <p:spPr>
          <a:xfrm>
            <a:off x="7589520" y="1325880"/>
            <a:ext cx="4050792" cy="4526280"/>
          </a:xfrm>
          <a:prstGeom prst="roundRect">
            <a:avLst>
              <a:gd name="adj" fmla="val 2709"/>
            </a:avLst>
          </a:prstGeom>
          <a:solidFill>
            <a:schemeClr val="tx2"/>
          </a:solidFill>
          <a:ln/>
        </p:spPr>
      </p:sp>
      <p:pic>
        <p:nvPicPr>
          <p:cNvPr id="23" name="Иконка" descr="Иконка «Маршрут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600200"/>
            <a:ext cx="822960" cy="8229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8696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Релиз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2697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build apk --release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APK для Android и архив для Windows собирает GitHub 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Своя иконка и название «Маршрут»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Запуск без ключей и облака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Итоги</a:t>
            </a:r>
            <a:endParaRPr lang="en-US" sz="4000" dirty="0"/>
          </a:p>
        </p:txBody>
      </p:sp>
      <p:sp>
        <p:nvSpPr>
          <p:cNvPr id="3" name="Номер 1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6916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Приложение строит персональный план по графу тем, тесту, времени и дедлайну</a:t>
            </a:r>
            <a:endParaRPr lang="en-US" sz="1700" dirty="0"/>
          </a:p>
        </p:txBody>
      </p:sp>
      <p:sp>
        <p:nvSpPr>
          <p:cNvPr id="5" name="Номер 2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5603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Clean Architecture: алгоритм на чистом Dart, Riverpod, drift, go_router</a:t>
            </a:r>
            <a:endParaRPr lang="en-US" sz="1700" dirty="0"/>
          </a:p>
        </p:txBody>
      </p:sp>
      <p:sp>
        <p:nvSpPr>
          <p:cNvPr id="7" name="Номер 3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4290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Полный сценарий, CRUD, перепланирование, Pomodoro, статистика, уведомления</a:t>
            </a:r>
            <a:endParaRPr lang="en-US" sz="1700" dirty="0"/>
          </a:p>
        </p:txBody>
      </p:sp>
      <p:sp>
        <p:nvSpPr>
          <p:cNvPr id="9" name="Номер 4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2976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97 тестов, интеграционный тест, CI и релизный APK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94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Спасибо за внимание! Готов ответить на вопросы</a:t>
            </a:r>
            <a:endParaRPr lang="en-US" sz="2200" dirty="0"/>
          </a:p>
        </p:txBody>
      </p:sp>
      <p:pic>
        <p:nvPicPr>
          <p:cNvPr id="12" name="Скриншот 09_stats" descr="09_sta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85800"/>
            <a:ext cx="2610833" cy="5486400"/>
          </a:xfrm>
          <a:prstGeom prst="rect">
            <a:avLst/>
          </a:prstGeom>
        </p:spPr>
      </p:pic>
      <p:pic>
        <p:nvPicPr>
          <p:cNvPr id="13" name="Скриншот 12_pomodoro" descr="12_pomodo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280160"/>
            <a:ext cx="2284479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Маршрут">
  <a:themeElements>
    <a:clrScheme name="Маршрут">
      <a:dk1>
        <a:srgbClr val="0F1D3D"/>
      </a:dk1>
      <a:lt1>
        <a:srgbClr val="FFFFFF"/>
      </a:lt1>
      <a:dk2>
        <a:srgbClr val="1A3A8F"/>
      </a:dk2>
      <a:lt2>
        <a:srgbClr val="EEF2FB"/>
      </a:lt2>
      <a:accent1>
        <a:srgbClr val="F57C00"/>
      </a:accent1>
      <a:accent2>
        <a:srgbClr val="1A3A8F"/>
      </a:accent2>
      <a:accent3>
        <a:srgbClr val="2E9D5B"/>
      </a:accent3>
      <a:accent4>
        <a:srgbClr val="FFA040"/>
      </a:accent4>
      <a:accent5>
        <a:srgbClr val="9DB4FF"/>
      </a:accent5>
      <a:accent6>
        <a:srgbClr val="5A6B8C"/>
      </a:accent6>
      <a:hlink>
        <a:srgbClr val="1A3A8F"/>
      </a:hlink>
      <a:folHlink>
        <a:srgbClr val="5A6B8C"/>
      </a:folHlink>
    </a:clrScheme>
    <a:fontScheme name="Маршрут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Группа ПО2410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Маршрут — итоговая защита курсового проекта</dc:title>
  <dc:subject>PptxGenJS Presentation</dc:subject>
  <dc:creator>Баринов Николай Владимирович</dc:creator>
  <cp:lastModifiedBy>Баринов Николай Владимирович</cp:lastModifiedBy>
  <cp:revision>1</cp:revision>
  <dcterms:created xsi:type="dcterms:W3CDTF">2026-10-11T21:07:45Z</dcterms:created>
  <dcterms:modified xsi:type="dcterms:W3CDTF">2026-10-11T21:07:45Z</dcterms:modified>
</cp:coreProperties>
</file>