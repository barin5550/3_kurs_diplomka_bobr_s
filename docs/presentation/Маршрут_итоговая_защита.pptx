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ff4b0d56-86b7-a640-76cd-2aea603672e1}">
          <p14:sldIdLst>
            <p14:sldId id="256"/>
            <p14:sldId id="257"/>
            <p14:sldId id="258"/>
          </p14:sldIdLst>
        </p14:section>
        <p14:section name="Решение" id="{76dd9cbb-3624-d653-a194-55c967ff17a0}">
          <p14:sldIdLst>
            <p14:sldId id="259"/>
            <p14:sldId id="260"/>
            <p14:sldId id="261"/>
          </p14:sldIdLst>
        </p14:section>
        <p14:section name="1 семестр" id="{762b0c60-eb79-4649-55ea-8b386466f513}">
          <p14:sldIdLst>
            <p14:sldId id="262"/>
            <p14:sldId id="263"/>
          </p14:sldIdLst>
        </p14:section>
        <p14:section name="2 семестр" id="{80e34792-de9d-54ca-d717-9df02e52749b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Итоги" id="{5921cc3f-7f11-5665-9e92-854a14eedf2c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3A8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3A8F"/>
                </a:solidFill>
                <a:latin typeface="+mn-lt"/>
              </a:rPr>
              <a:t>Состав автотестов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Тестов</c:v>
                </c:pt>
              </c:strCache>
            </c:strRef>
          </c:tx>
          <c:spPr>
            <a:solidFill>
              <a:srgbClr val="1A3A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D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Алгоритм</c:v>
                  </c:pt>
                  <c:pt idx="1">
                    <c:v>Утилиты и роутер</c:v>
                  </c:pt>
                  <c:pt idx="2">
                    <c:v>Сервер API</c:v>
                  </c:pt>
                  <c:pt idx="3">
                    <c:v>Виджет-тесты</c:v>
                  </c:pt>
                  <c:pt idx="4">
                    <c:v>Репозитории БД</c:v>
                  </c:pt>
                  <c:pt idx="5">
                    <c:v>Клиент API</c:v>
                  </c:pt>
                  <c:pt idx="6">
                    <c:v>Интеграционный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32</c:v>
                </c:pt>
                <c:pt idx="1">
                  <c:v>29</c:v>
                </c:pt>
                <c:pt idx="2">
                  <c:v>23</c:v>
                </c:pt>
                <c:pt idx="3">
                  <c:v>21</c:v>
                </c:pt>
                <c:pt idx="4">
                  <c:v>18</c:v>
                </c:pt>
                <c:pt idx="5">
                  <c:v>14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D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1D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Меня зовут Баринов Николай, группа ПО2410. Представляю курсовой проект «Маршрут» — приложение для автоматического формирования персонального плана обучения. Руководитель — Синтиков Еркебулан Канатович. Приложение написано на Flutter и Dart, работает на Android, iPhone и Windows, а данные хранит на собственном сервере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Моя тема — создание приложения для автоматического формирования персонального плана обучения. Когда человек решает выучить, например, Flutter, он видит сотни статей и курсов, но не понимает, в каком порядке их проходить, сколько это займёт и успеет ли он к сроку. Готовые курсы не учитывают, что вы уже знаете и сколько у вас времени. А стоит пропустить пару дней, и расписание теряет смысл. Цель работы — приложение «Маршрут», которое само строит план по дням и перестраивает его при отставании. Целевая аудитория — студенты, самоучки и люди, которые меняют профессию. Сценарий простой: выбрал направление, прошёл тест, указал часы и дедлайн и получил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 сравнил приложение с аналогами. roadmap.sh показывает схемы изучения технологий, но схема одна для всех и не превращается в расписание. Duolingo хорошо мотивирует ежедневной целью, но план задаёт сам сервис. Курсы на Stepik и Coursera идут в своём темпе. Планировщики вроде Notion или Todoist требуют расписывать всё вручную. «Маршрут» объединяет граф тем, учёт уровня через тест, расписание под ваше время и автоматическую перестройку, а данные хранит на собственном сервере API без облачных сервисов. (Перед защитой сверить таблицу с актуальными версиями сервисов.)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состоит из двух программ. Приложение на Flutter построено по Clean Architecture: экраны берут данные у провайдеров Riverpod, провайдеры вызывают PlanService и алгоритм в слое domain на чистом Dart, а данные получают через репозитории API. Все запросы идут через общий клиент ApiClient: он добавляет токен, ждёт ответ не дольше 10 секунд и превращает ошибки в понятные сообщения. Сервер API тоже написан на Dart, на библиотеке shelf. Он выбирает обработчик по адресу, проверяет токен, данные и то, что запись принадлежит этому пользователю, и только после этого работает с базой SQLite через drift. Приложение к базе напрямую не обращается: получение, добавление, изменение и удаление идут только через API. Riverpod выбран вместо BLoC и Provider: меньше шаблонного кода, легко подменять зависимости в тестах. Свой сервер вместо Firebase — нет облака, ключей и внешних сервисов, а данные связаны и требуют SQL. Слоистая архитектура себя оправдала: при переходе на сервер заменились только репозитории, алгоритм и экраны остались прежними.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часть работы — алгоритм в слое domain. Направление — это граф тем: нельзя изучать Riverpod, не зная асинхронности Dart. Сначала по тесту исключаются известные темы: верный ответ по теме означает, что известны и все темы, которые нужны до неё. Затем алгоритм Кана выполняет топологическую сортировку: каждая тема идёт после своих зависимостей. Если в данных случайно появится цикл, алгоритм его найдёт. Дальше темы раскладываются по выбранным дням с дневным лимитом, после каждой темы ставятся повторения через 1, 3 и 7 дней по кривой забывания Эббингауза. Если план не укладывается в дедлайн, приложение подбирает, сколько часов в неделю нужно. В каталоге 75 тем и 113 зависимостей, алгоритм покрыт юнит-тестами.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работу алгоритма на маленьком примере: три темы по часу, каждая зависит от предыдущей, 7 часов в неделю, все дни, дедлайн 14 октября. Дневной лимит — 60 минут. Из-за повторений тема «Виджеты» делится на две части, и последняя тема заканчивается 15 октября, на день позже срока. Алгоритм это замечает и предлагает 8 часов в неделю: тогда лимит 75 минут и план укладывается в срок. В приложении это кнопка «Установить N ч/нед» на экране предпросмотра.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обязательный сценарий первого семестра. Заставка с логотипом сама переходит на вход или, если сессия сохранена, сразу на главную. Регистрация проверяет каждое поле: пустые поля, формат email, пароль из букв и цифр, совпадение паролей, уникальность email. При неверном пароле вход показывает понятное сообщение, есть ссылка на регистрацию. Пользователь хранится в базе на сервере, после входа сервер выдаёт токен, и открывается главная с прогрессом и задачами на сегодня. Пять вкладок внизу: Главная, План, Темы, Статистика, Профиль. В профиле кнопка «Выйти»: после выхода открывается вход, а закрытые экраны без входа недоступны — это делает redirect в go_router. Тот же сценарий автоматически проходит интеграционный тест.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Основной раздел — создание плана. Пользователь выбирает одно из четырёх направлений, отвечает на вопросы диагностического теста, указывает часы в неделю, учебные дни и дедлайн. На предпросмотре видно, в каком порядке пойдут темы, сколько часов займёт изучение и повторения и когда план закончится. Кнопка «Начать обучение» сохраняет план, и задачи появляются на главной.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 втором семестре я заново проверил первую версию: сверил её с критериями, с документацией пакетов, с рекомендациями OWASP по паролям, вручную посмотрел оформление и написал тесты сценариев. Нашлось восемь недостатков. Самые важные — слабое хэширование паролей, отсутствие релизной сборки и неполная настройка уведомлений Android. Все восемь исправлены: пароли теперь хэшируются PBKDF2, появилось удаление аккаунта, своя иконка, APK собирается автоматически, а тесты запускаются на каждом изменении.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 втором семестре основной функционал доведён до полного объёма. Если пользователь пропустил занятия, на главной появляется баннер, и кнопка «Перестроить» переносит остаток плана вперёд, сохраняя выполненное. Можно вести несколько планов, добавлять свои темы и заметки. Из дополнительных функций — поиск, фильтры по категориям, избранное, ежедневное напоминание, таймер Pomodoro с уведомлением, история и графики прогресса на fl_chart, светлая и тёмная тема.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хранятся в базе SQLite на сервере, работа с базой идёт через drift. Таблиц девять: у пользователя есть планы, свои темы, заметки, избранное, история «помидоров» и токены входа; план состоит из тем и занятий. Все внешние ключи объявлены с каскадным удалением: удаление аккаунта удаляет все данные пользователя и его токены. Приложение к базе напрямую не обращается: у сервера 39 адресов API, и полный CRUD — получение, добавление, изменение и удаление — есть у заметок, своих тем и планов. Сервер отвечает кодами HTTP: 200, 201 и 204 при успехе, 400 при неверных данных, 401 без токена, 404 если запись не найдена или чужая, 500 при сбое. Приложение показывает каждую ошибку понятным сообщением.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Покажу, что данные идут только через API. Сервер запущен на ноутбуке, его окно видно, телефон подключён к той же сети Wi-Fi; адрес сервера вводится на экране входа и проверяется запросом к серверу. Создаю заметку — в журнале сервера появляется строка POST /api/notes с кодом 201. Изменяю её — PUT с кодом 204, удаляю — DELETE с кодом 204. Теперь выключаю сервер и пробую сохранить заметку: приложение показывает красное сообщение «Нет связи с сервером», а данные не меняются. Включаю сервер, повторяю действие — оно сохраняется.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показывает данные пользователя и статистику, позволяет изменить имя, email и цвет аватара, сменить пароль и удалить аккаунт — для этого нужно ввести пароль ещё раз. Пароли не хранятся в открытом виде: используется PBKDF2-HMAC-SHA256 со 100 000 итераций и случайной солью. В формате хэша записано число итераций, поэтому его можно увеличить в следующей версии. После входа сервер выдаёт токен из 32 случайных байт; в базе хранится только его хэш SHA-256, поэтому копия базы не даёт ни паролей, ни действующих токенов. Токен действует 30 дней и удаляется при выходе.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Интерфейс построен на Material 3 в фирменных цветах: тёмно-синий — спокойный фон для учёбы, оранжевым выделены кнопки действий и прогресс. Есть светлая и тёмная тема. Вёрстка адаптивная: на широком экране, например в окне Windows, нижняя навигация заменяется боковой панелью, а содержимое не растягивается шире 720 пикселей. Для пустых списков есть подсказки, а удаление всегда требует подтверждения. Все экраны проверены матрицей из 280 снимков в семи вариантах.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проверяют 137 модульных и виджет-тестов. 32 проверяют алгоритм, 23 — сервер API: коды ответов, отказ без токена, защиту чужих записей, CRUD; 14 — клиент API: выключенный сервер, таймаут, ответ 401. Виджет-тесты запускают приложение вместе с настоящим сервером API, у которого база в памяти, поэтому проверяется весь путь данных — от экрана до базы. Интеграционный тест проходит сценарий в настоящем приложении с настоящим HTTP-сервером. В документе 45 тест-кейсов и журнал из 27 найденных и исправленных ошибок. GitHub Actions на каждое изменение запускает все проверки и собирает APK, файл для iPhone, версию для Windows и программу-сервер.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Пояснительная записка — 105 страниц: введение с целью и девятью задачами, теоретическая глава с анализом аналогов и обоснованием технологий, практическая глава с архитектурой, базой данных и API сервера, схемой алгоритма и скриншотами, заключение, 50 источников и приложения с кодом алгоритма, сервера и клиента API. Сборки делает GitHub Actions: APK для Android командой flutter build apk --release, файл IPA для iPhone, который ставится через Sideloadly, версию для Windows и программу-сервер для ноутбука.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Все задачи курсовой выполнены: приложение «Маршрут» строит персональный план обучения с учётом знаний, времени и дедлайна и перестраивает его при отставании. Приложение работает с данными только через собственный сервер API, покрыто тестами и собирается автоматически для Android, iPhone и Windows. Дальнейшее развитие — размещение сервера в интернете с шифрованием HTTPS и экспорт плана. Спасибо за внимание,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«Маршрут» · Баринов Николай Владимирович · ПО2410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Иконка приложения" descr="Иконка «Маршрут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83080" y="6400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Колледж Astana IT University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035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Астана 2026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8288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КУРСОВОЙ ПРОЕКТ · ИТОГОВАЯ ЗАЩИТА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246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Приложение для автоматического формирования персонального плана обучения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41605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ПМ07. Разработка мобильных приложений · Flutter и Dart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0749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Выполнил: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Баринов Николай Владимирович, группа ПО2410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Руководитель: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Синтиков Еркебулан Канатович</a:t>
            </a:r>
            <a:endParaRPr lang="en-US" sz="1500" dirty="0"/>
          </a:p>
        </p:txBody>
      </p:sp>
      <p:pic>
        <p:nvPicPr>
          <p:cNvPr id="10" name="Скриншот 05_home" descr="05_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685800"/>
            <a:ext cx="2610833" cy="5486400"/>
          </a:xfrm>
          <a:prstGeom prst="rect">
            <a:avLst/>
          </a:prstGeom>
        </p:spPr>
      </p:pic>
      <p:pic>
        <p:nvPicPr>
          <p:cNvPr id="11" name="Скриншот 19_preview" descr="19_pre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1280160"/>
            <a:ext cx="2284479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Проблема: учиться самому трудно без плана</a:t>
            </a:r>
            <a:endParaRPr lang="en-US" sz="3200" dirty="0"/>
          </a:p>
        </p:txBody>
      </p:sp>
      <p:sp>
        <p:nvSpPr>
          <p:cNvPr id="3" name="Проблема 1"/>
          <p:cNvSpPr/>
          <p:nvPr/>
        </p:nvSpPr>
        <p:spPr>
          <a:xfrm>
            <a:off x="548640" y="137160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4" name="Номер 1"/>
          <p:cNvSpPr/>
          <p:nvPr/>
        </p:nvSpPr>
        <p:spPr>
          <a:xfrm>
            <a:off x="777240" y="167335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554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Неясен порядок тем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93852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Темы зависят друг от друга: виджеты Flutter не понять без основ Dart.</a:t>
            </a:r>
            <a:endParaRPr lang="en-US" sz="1400" dirty="0"/>
          </a:p>
        </p:txBody>
      </p:sp>
      <p:sp>
        <p:nvSpPr>
          <p:cNvPr id="7" name="Проблема 2"/>
          <p:cNvSpPr/>
          <p:nvPr/>
        </p:nvSpPr>
        <p:spPr>
          <a:xfrm>
            <a:off x="548640" y="283464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8" name="Номер 2"/>
          <p:cNvSpPr/>
          <p:nvPr/>
        </p:nvSpPr>
        <p:spPr>
          <a:xfrm>
            <a:off x="777240" y="313639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017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Не учтены знания и время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40156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Курсы дают один план для всех и свой темп, а не ваш.</a:t>
            </a:r>
            <a:endParaRPr lang="en-US" sz="1400" dirty="0"/>
          </a:p>
        </p:txBody>
      </p:sp>
      <p:sp>
        <p:nvSpPr>
          <p:cNvPr id="11" name="Проблема 3"/>
          <p:cNvSpPr/>
          <p:nvPr/>
        </p:nvSpPr>
        <p:spPr>
          <a:xfrm>
            <a:off x="548640" y="429768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2" name="Номер 3"/>
          <p:cNvSpPr/>
          <p:nvPr/>
        </p:nvSpPr>
        <p:spPr>
          <a:xfrm>
            <a:off x="777240" y="4599432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480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План ломается при отставании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864608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Пропустил пару дней, и расписание теряет смысл. Человек бросает учёбу.</a:t>
            </a:r>
            <a:endParaRPr lang="en-US" sz="1400" dirty="0"/>
          </a:p>
        </p:txBody>
      </p:sp>
      <p:sp>
        <p:nvSpPr>
          <p:cNvPr id="15" name="Цель"/>
          <p:cNvSpPr/>
          <p:nvPr/>
        </p:nvSpPr>
        <p:spPr>
          <a:xfrm>
            <a:off x="6949440" y="1371600"/>
            <a:ext cx="4690872" cy="4160520"/>
          </a:xfrm>
          <a:prstGeom prst="roundRect">
            <a:avLst>
              <a:gd name="adj" fmla="val 2637"/>
            </a:avLst>
          </a:prstGeom>
          <a:solidFill>
            <a:schemeClr val="tx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ЦЕЛЬ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69480" y="1920240"/>
            <a:ext cx="4114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Приложение само строит план по дням с учётом знаний, времени и дедлайна и перестраивает его при отставании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3520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ЦЕЛЕВАЯ АУДИТОРИЯ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38404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Студенты колледжей и вузов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Самоучки: программирование, языки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Те, кто меняет профессию</a:t>
            </a:r>
            <a:endParaRPr lang="en-US" sz="1500" dirty="0"/>
          </a:p>
        </p:txBody>
      </p:sp>
      <p:sp>
        <p:nvSpPr>
          <p:cNvPr id="20" name="Метка Направление"/>
          <p:cNvSpPr/>
          <p:nvPr/>
        </p:nvSpPr>
        <p:spPr>
          <a:xfrm>
            <a:off x="548640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Направление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2944368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Метка Тест"/>
          <p:cNvSpPr/>
          <p:nvPr/>
        </p:nvSpPr>
        <p:spPr>
          <a:xfrm>
            <a:off x="3355848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Тест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751576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4" name="Метка Часы и дедлайн"/>
          <p:cNvSpPr/>
          <p:nvPr/>
        </p:nvSpPr>
        <p:spPr>
          <a:xfrm>
            <a:off x="6163056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Часы и дедлайн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558784" y="57607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Метка План по дням"/>
          <p:cNvSpPr/>
          <p:nvPr/>
        </p:nvSpPr>
        <p:spPr>
          <a:xfrm>
            <a:off x="8970264" y="5760720"/>
            <a:ext cx="2377440" cy="411480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План по дням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Аналоги не строят персональный маршрут</a:t>
            </a:r>
            <a:endParaRPr lang="en-US" sz="3200" dirty="0"/>
          </a:p>
        </p:txBody>
      </p:sp>
      <p:graphicFrame>
        <p:nvGraphicFramePr>
          <p:cNvPr id="4" name="Таблица аналог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00200"/>
                <a:gridCol w="1600200"/>
                <a:gridCol w="1691640"/>
                <a:gridCol w="1691640"/>
                <a:gridCol w="17647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Возможность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roadmap.sh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Duolingo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Stepik / Coursera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Notion / Todoist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Маршрут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Порядок тем по зависимостям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статичная схема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внутри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автоматически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Учёт имеющихся знаний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тест уровня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диагностический тест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План по дням под своё время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ежедневная цель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дедлайны курса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да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Перестройка при отставании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вручную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одной кнопкой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Где хранятся данные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облако сервиса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свой сервер API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Вывод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50292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Вывод: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аналоги дают материалы или задачник, но не план под конкретного человека с перестройкой при отставании.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Сравнение составлено по публичным описаниям сервисов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Архитектура: приложение и сервер API</a:t>
            </a:r>
            <a:endParaRPr lang="en-US" sz="3200" dirty="0"/>
          </a:p>
        </p:txBody>
      </p:sp>
      <p:sp>
        <p:nvSpPr>
          <p:cNvPr id="3" name="Приложение"/>
          <p:cNvSpPr/>
          <p:nvPr/>
        </p:nvSpPr>
        <p:spPr>
          <a:xfrm>
            <a:off x="548640" y="1280160"/>
            <a:ext cx="457200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89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Приложение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 Flutter, телефон</a:t>
            </a:r>
            <a:endParaRPr lang="en-US" sz="1700" dirty="0"/>
          </a:p>
        </p:txBody>
      </p:sp>
      <p:sp>
        <p:nvSpPr>
          <p:cNvPr id="5" name="Метка Экраны Material 3"/>
          <p:cNvSpPr/>
          <p:nvPr/>
        </p:nvSpPr>
        <p:spPr>
          <a:xfrm>
            <a:off x="777240" y="184708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Экраны Material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23113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7" name="Метка Провайдеры Riverpod"/>
          <p:cNvSpPr/>
          <p:nvPr/>
        </p:nvSpPr>
        <p:spPr>
          <a:xfrm>
            <a:off x="777240" y="235000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Провайдеры Riverpod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273405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9" name="Метка PlanService и алгоритм · domain"/>
          <p:cNvSpPr/>
          <p:nvPr/>
        </p:nvSpPr>
        <p:spPr>
          <a:xfrm>
            <a:off x="777240" y="285292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PlanService и алгоритм · domain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323697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11" name="Метка Репозитории API"/>
          <p:cNvSpPr/>
          <p:nvPr/>
        </p:nvSpPr>
        <p:spPr>
          <a:xfrm>
            <a:off x="777240" y="335584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Репозитории API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73989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13" name="Метка ApiClient: токен, ожидание 10 с, ошибки"/>
          <p:cNvSpPr/>
          <p:nvPr/>
        </p:nvSpPr>
        <p:spPr>
          <a:xfrm>
            <a:off x="777240" y="385876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ApiClient: токен, ожидание 10 с, ошибки</a:t>
            </a:r>
            <a:endParaRPr lang="en-US" sz="1300" dirty="0"/>
          </a:p>
        </p:txBody>
      </p:sp>
      <p:sp>
        <p:nvSpPr>
          <p:cNvPr id="14" name="Сервер"/>
          <p:cNvSpPr/>
          <p:nvPr/>
        </p:nvSpPr>
        <p:spPr>
          <a:xfrm>
            <a:off x="7068312" y="1280160"/>
            <a:ext cx="4572000" cy="315468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96912" y="1389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Сервер API</a:t>
            </a:r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  Dart, shelf, ноутбук</a:t>
            </a:r>
            <a:endParaRPr lang="en-US" sz="1700" dirty="0"/>
          </a:p>
        </p:txBody>
      </p:sp>
      <p:sp>
        <p:nvSpPr>
          <p:cNvPr id="16" name="Метка Маршруты shelf_router · 39 адресов"/>
          <p:cNvSpPr/>
          <p:nvPr/>
        </p:nvSpPr>
        <p:spPr>
          <a:xfrm>
            <a:off x="7296912" y="184708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Маршруты shelf_router · 39 адресов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71432" y="223113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18" name="Метка Проверка токена, данных и владельца"/>
          <p:cNvSpPr/>
          <p:nvPr/>
        </p:nvSpPr>
        <p:spPr>
          <a:xfrm>
            <a:off x="7296912" y="235000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Проверка токена, данных и владельца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71432" y="273405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20" name="Метка Репозитории drift"/>
          <p:cNvSpPr/>
          <p:nvPr/>
        </p:nvSpPr>
        <p:spPr>
          <a:xfrm>
            <a:off x="7296912" y="285292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Репозитории drift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171432" y="3236976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↓</a:t>
            </a:r>
            <a:endParaRPr lang="en-US" sz="900" dirty="0"/>
          </a:p>
        </p:txBody>
      </p:sp>
      <p:sp>
        <p:nvSpPr>
          <p:cNvPr id="22" name="Метка База SQLite · 9 таблиц"/>
          <p:cNvSpPr/>
          <p:nvPr/>
        </p:nvSpPr>
        <p:spPr>
          <a:xfrm>
            <a:off x="7296912" y="3355848"/>
            <a:ext cx="4114800" cy="402336"/>
          </a:xfrm>
          <a:prstGeom prst="roundRect">
            <a:avLst>
              <a:gd name="adj" fmla="val 45455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База SQLite · 9 таблиц</a:t>
            </a:r>
            <a:endParaRPr lang="en-US" sz="1300" dirty="0"/>
          </a:p>
        </p:txBody>
      </p:sp>
      <p:sp>
        <p:nvSpPr>
          <p:cNvPr id="23" name="Запрос"/>
          <p:cNvSpPr/>
          <p:nvPr/>
        </p:nvSpPr>
        <p:spPr>
          <a:xfrm>
            <a:off x="5257800" y="2514600"/>
            <a:ext cx="1673352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4" name="Ответ"/>
          <p:cNvSpPr/>
          <p:nvPr/>
        </p:nvSpPr>
        <p:spPr>
          <a:xfrm>
            <a:off x="5257800" y="3429000"/>
            <a:ext cx="1673352" cy="0"/>
          </a:xfrm>
          <a:prstGeom prst="line">
            <a:avLst/>
          </a:prstGeom>
          <a:noFill/>
          <a:ln w="31750">
            <a:solidFill>
              <a:schemeClr val="tx2"/>
            </a:solidFill>
            <a:prstDash val="solid"/>
            <a:head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166360" y="1874520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запрос HTTP + JSON, токен Bearer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520440"/>
            <a:ext cx="1856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ответ JSON, код 200 / 201 / 204 / 4xx</a:t>
            </a:r>
            <a:endParaRPr lang="en-US" sz="1200" dirty="0"/>
          </a:p>
        </p:txBody>
      </p:sp>
      <p:sp>
        <p:nvSpPr>
          <p:cNvPr id="27" name="Выбор Состояние"/>
          <p:cNvSpPr/>
          <p:nvPr/>
        </p:nvSpPr>
        <p:spPr>
          <a:xfrm>
            <a:off x="548640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Состояние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Riverpod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вместо BLoC и Provider: меньше кода, подмена в тестах</a:t>
            </a:r>
            <a:endParaRPr lang="en-US" sz="1200" dirty="0"/>
          </a:p>
        </p:txBody>
      </p:sp>
      <p:sp>
        <p:nvSpPr>
          <p:cNvPr id="31" name="Выбор Данные"/>
          <p:cNvSpPr/>
          <p:nvPr/>
        </p:nvSpPr>
        <p:spPr>
          <a:xfrm>
            <a:off x="3364992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47872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Данные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3547872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свой сервер API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3547872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вместо Firebase: без облака и ключей, связи и SQL</a:t>
            </a:r>
            <a:endParaRPr lang="en-US" sz="1200" dirty="0"/>
          </a:p>
        </p:txBody>
      </p:sp>
      <p:sp>
        <p:nvSpPr>
          <p:cNvPr id="35" name="Выбор Навигация"/>
          <p:cNvSpPr/>
          <p:nvPr/>
        </p:nvSpPr>
        <p:spPr>
          <a:xfrm>
            <a:off x="6181344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64224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Навигация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go_router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redirect закрывает экраны без входа</a:t>
            </a:r>
            <a:endParaRPr lang="en-US" sz="1200" dirty="0"/>
          </a:p>
        </p:txBody>
      </p:sp>
      <p:sp>
        <p:nvSpPr>
          <p:cNvPr id="39" name="Выбор Вход"/>
          <p:cNvSpPr/>
          <p:nvPr/>
        </p:nvSpPr>
        <p:spPr>
          <a:xfrm>
            <a:off x="8997696" y="4617720"/>
            <a:ext cx="263347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rgbClr val="D5DCE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80576" y="47274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Вход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9180576" y="50017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PBKDF2 + токен</a:t>
            </a:r>
            <a:endParaRPr lang="en-US" sz="1700" dirty="0"/>
          </a:p>
        </p:txBody>
      </p:sp>
      <p:sp>
        <p:nvSpPr>
          <p:cNvPr id="42" name="Text 40"/>
          <p:cNvSpPr txBox="1"/>
          <p:nvPr/>
        </p:nvSpPr>
        <p:spPr>
          <a:xfrm>
            <a:off x="9180576" y="539496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вместо Firebase Auth: пароль только хэшем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Алгоритм: план из графа тем за пять шагов</a:t>
            </a:r>
            <a:endParaRPr lang="en-US" sz="3200" dirty="0"/>
          </a:p>
        </p:txBody>
      </p:sp>
      <p:sp>
        <p:nvSpPr>
          <p:cNvPr id="3" name="Связь шагов"/>
          <p:cNvSpPr/>
          <p:nvPr/>
        </p:nvSpPr>
        <p:spPr>
          <a:xfrm>
            <a:off x="1463040" y="1737360"/>
            <a:ext cx="8887968" cy="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4" name="Номер 1"/>
          <p:cNvSpPr/>
          <p:nvPr/>
        </p:nvSpPr>
        <p:spPr>
          <a:xfrm>
            <a:off x="1097280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84048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Граф тем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Тема — вершина, ребро A → B: A нужно знать до B</a:t>
            </a:r>
            <a:endParaRPr lang="en-US" sz="1300" dirty="0"/>
          </a:p>
        </p:txBody>
      </p:sp>
      <p:sp>
        <p:nvSpPr>
          <p:cNvPr id="7" name="Номер 2"/>
          <p:cNvSpPr/>
          <p:nvPr/>
        </p:nvSpPr>
        <p:spPr>
          <a:xfrm>
            <a:off x="3319272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Исключить известное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679192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Верный ответ в тесте: тема и её предшественники изучены</a:t>
            </a:r>
            <a:endParaRPr lang="en-US" sz="1300" dirty="0"/>
          </a:p>
        </p:txBody>
      </p:sp>
      <p:sp>
        <p:nvSpPr>
          <p:cNvPr id="10" name="Номер 3"/>
          <p:cNvSpPr/>
          <p:nvPr/>
        </p:nvSpPr>
        <p:spPr>
          <a:xfrm>
            <a:off x="5541264" y="13716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828032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Алгоритм Кана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01184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Топологическая сортировка, при равенстве — по сложности. Цикл обнаруживается</a:t>
            </a:r>
            <a:endParaRPr lang="en-US" sz="1300" dirty="0"/>
          </a:p>
        </p:txBody>
      </p:sp>
      <p:sp>
        <p:nvSpPr>
          <p:cNvPr id="13" name="Номер 4"/>
          <p:cNvSpPr/>
          <p:nvPr/>
        </p:nvSpPr>
        <p:spPr>
          <a:xfrm>
            <a:off x="7763256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50024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Раскладка по дням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123176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Лимит в день = часы в неделю / учебные дни, части от 30 минут</a:t>
            </a:r>
            <a:endParaRPr lang="en-US" sz="1300" dirty="0"/>
          </a:p>
        </p:txBody>
      </p:sp>
      <p:sp>
        <p:nvSpPr>
          <p:cNvPr id="16" name="Номер 5"/>
          <p:cNvSpPr/>
          <p:nvPr/>
        </p:nvSpPr>
        <p:spPr>
          <a:xfrm>
            <a:off x="9985248" y="13716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72016" y="22402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Срок и повторения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345168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Повторения через 1, 3, 7 дней. Не успеваем — подбираем часы</a:t>
            </a:r>
            <a:endParaRPr lang="en-US" sz="1300" dirty="0"/>
          </a:p>
        </p:txBody>
      </p:sp>
      <p:sp>
        <p:nvSpPr>
          <p:cNvPr id="19" name="Факт тем в 4 направлениях"/>
          <p:cNvSpPr/>
          <p:nvPr/>
        </p:nvSpPr>
        <p:spPr>
          <a:xfrm>
            <a:off x="548640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75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тем в 4 направлениях</a:t>
            </a:r>
            <a:endParaRPr lang="en-US" sz="1400" dirty="0"/>
          </a:p>
        </p:txBody>
      </p:sp>
      <p:sp>
        <p:nvSpPr>
          <p:cNvPr id="22" name="Факт зависимостей между темами"/>
          <p:cNvSpPr/>
          <p:nvPr/>
        </p:nvSpPr>
        <p:spPr>
          <a:xfrm>
            <a:off x="3364992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593592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113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3593592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зависимостей между темами</a:t>
            </a:r>
            <a:endParaRPr lang="en-US" sz="1400" dirty="0"/>
          </a:p>
        </p:txBody>
      </p:sp>
      <p:sp>
        <p:nvSpPr>
          <p:cNvPr id="25" name="Факт дней до повторений"/>
          <p:cNvSpPr/>
          <p:nvPr/>
        </p:nvSpPr>
        <p:spPr>
          <a:xfrm>
            <a:off x="6181344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9944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 · 3 · 7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6409944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дней до повторений</a:t>
            </a:r>
            <a:endParaRPr lang="en-US" sz="1400" dirty="0"/>
          </a:p>
        </p:txBody>
      </p:sp>
      <p:sp>
        <p:nvSpPr>
          <p:cNvPr id="28" name="Факт юнит-теста алгоритма"/>
          <p:cNvSpPr/>
          <p:nvPr/>
        </p:nvSpPr>
        <p:spPr>
          <a:xfrm>
            <a:off x="8997696" y="4114800"/>
            <a:ext cx="26060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42976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32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5120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юнит-теста алгоритма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Пример: три темы, 7 часов в неделю, дедлайн 14.10</a:t>
            </a:r>
            <a:endParaRPr lang="en-US" sz="3200" dirty="0"/>
          </a:p>
        </p:txBody>
      </p:sp>
      <p:graphicFrame>
        <p:nvGraphicFramePr>
          <p:cNvPr id="7" name="Таблица расписания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Дата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Занятие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Мин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Основы Dart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13.10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Повторение: Основы Dart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Виджеты, часть 1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Виджеты, часть 2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Состояние, часть 1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Повторение: Основы Dart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Повторение: Виджеты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accent6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15.10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Состояние, часть 2 из 2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4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Дневной лимит: 7 · 60 / 7 = 60 минут. Повторения занимают часть лимита.</a:t>
            </a:r>
            <a:endParaRPr lang="en-US" sz="1300" dirty="0"/>
          </a:p>
        </p:txBody>
      </p:sp>
      <p:sp>
        <p:nvSpPr>
          <p:cNvPr id="5" name="Итог примера"/>
          <p:cNvSpPr/>
          <p:nvPr/>
        </p:nvSpPr>
        <p:spPr>
          <a:xfrm>
            <a:off x="6766560" y="1371600"/>
            <a:ext cx="2743200" cy="452628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995160" y="1554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4"/>
                </a:solidFill>
              </a:rPr>
              <a:t>ИТОГ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995160" y="1920240"/>
            <a:ext cx="2331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Изучение заканчивается 15.10, на день позже дедлайна.</a:t>
            </a:r>
            <a:endParaRPr lang="en-US" sz="16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Приложение предупреждает и предлагает 8 ч в неделю: лимит 75 минут, последняя тема 14.10.</a:t>
            </a:r>
            <a:endParaRPr lang="en-US" sz="1600" dirty="0"/>
          </a:p>
        </p:txBody>
      </p:sp>
      <p:pic>
        <p:nvPicPr>
          <p:cNvPr id="8" name="Скриншот 19_preview" descr="Предпросмотр пла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1371600"/>
            <a:ext cx="2153937" cy="4526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0" y="5989320"/>
            <a:ext cx="25196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Предпросмотр плана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Сценарий 1 семестра работает без ошибок</a:t>
            </a:r>
            <a:endParaRPr lang="en-US" sz="3200" dirty="0"/>
          </a:p>
        </p:txBody>
      </p:sp>
      <p:sp>
        <p:nvSpPr>
          <p:cNvPr id="3" name="Метка Splash"/>
          <p:cNvSpPr/>
          <p:nvPr/>
        </p:nvSpPr>
        <p:spPr>
          <a:xfrm>
            <a:off x="548640" y="1280160"/>
            <a:ext cx="96012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Splash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5" name="Метка Регистрация"/>
          <p:cNvSpPr/>
          <p:nvPr/>
        </p:nvSpPr>
        <p:spPr>
          <a:xfrm>
            <a:off x="1810512" y="1280160"/>
            <a:ext cx="132588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Регистрация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136392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Метка Вход"/>
          <p:cNvSpPr/>
          <p:nvPr/>
        </p:nvSpPr>
        <p:spPr>
          <a:xfrm>
            <a:off x="3438144" y="1280160"/>
            <a:ext cx="7772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Вход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215384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Метка Главная"/>
          <p:cNvSpPr/>
          <p:nvPr/>
        </p:nvSpPr>
        <p:spPr>
          <a:xfrm>
            <a:off x="4517136" y="1280160"/>
            <a:ext cx="10058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Главная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522976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Метка Навигация"/>
          <p:cNvSpPr/>
          <p:nvPr/>
        </p:nvSpPr>
        <p:spPr>
          <a:xfrm>
            <a:off x="5824728" y="1280160"/>
            <a:ext cx="114300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Навигация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67728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3" name="Метка Профиль"/>
          <p:cNvSpPr/>
          <p:nvPr/>
        </p:nvSpPr>
        <p:spPr>
          <a:xfrm>
            <a:off x="7269480" y="1280160"/>
            <a:ext cx="10058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Профиль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Метка Основной раздел"/>
          <p:cNvSpPr/>
          <p:nvPr/>
        </p:nvSpPr>
        <p:spPr>
          <a:xfrm>
            <a:off x="8577072" y="1280160"/>
            <a:ext cx="1691640" cy="384048"/>
          </a:xfrm>
          <a:prstGeom prst="roundRect">
            <a:avLst>
              <a:gd name="adj" fmla="val 47619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Основной раздел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268712" y="1280160"/>
            <a:ext cx="301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Метка Выход"/>
          <p:cNvSpPr/>
          <p:nvPr/>
        </p:nvSpPr>
        <p:spPr>
          <a:xfrm>
            <a:off x="10570464" y="1280160"/>
            <a:ext cx="8686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Выход</a:t>
            </a:r>
            <a:endParaRPr lang="en-US" sz="1200" dirty="0"/>
          </a:p>
        </p:txBody>
      </p:sp>
      <p:pic>
        <p:nvPicPr>
          <p:cNvPr id="18" name="Скриншот 01_splash" descr="Заставка, автовхо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1849340" cy="38862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365760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Заставка, автовход</a:t>
            </a:r>
            <a:endParaRPr lang="en-US" sz="1200" dirty="0"/>
          </a:p>
        </p:txBody>
      </p:sp>
      <p:pic>
        <p:nvPicPr>
          <p:cNvPr id="20" name="Скриншот 03_register_validation" descr="Ошибки под полям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9223" y="1920240"/>
            <a:ext cx="1849340" cy="38862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2676343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Ошибки под полями</a:t>
            </a:r>
            <a:endParaRPr lang="en-US" sz="1200" dirty="0"/>
          </a:p>
        </p:txBody>
      </p:sp>
      <p:pic>
        <p:nvPicPr>
          <p:cNvPr id="22" name="Скриншот 04_login_error" descr="Неверный парол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806" y="1920240"/>
            <a:ext cx="1849340" cy="38862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986926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Неверный пароль</a:t>
            </a:r>
            <a:endParaRPr lang="en-US" sz="1200" dirty="0"/>
          </a:p>
        </p:txBody>
      </p:sp>
      <p:pic>
        <p:nvPicPr>
          <p:cNvPr id="24" name="Скриншот 05_home" descr="Прогресс и задачи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0389" y="1920240"/>
            <a:ext cx="1849340" cy="38862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97509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Прогресс и задачи</a:t>
            </a:r>
            <a:endParaRPr lang="en-US" sz="1200" dirty="0"/>
          </a:p>
        </p:txBody>
      </p:sp>
      <p:pic>
        <p:nvPicPr>
          <p:cNvPr id="26" name="Скриншот 10_profile" descr="Профиль и «Выйти»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0972" y="1920240"/>
            <a:ext cx="1849340" cy="38862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608092" y="5897880"/>
            <a:ext cx="22151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Профиль и «Выйти»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Основной раздел: план за четыре шага</a:t>
            </a:r>
            <a:endParaRPr lang="en-US" sz="3200" dirty="0"/>
          </a:p>
        </p:txBody>
      </p:sp>
      <p:pic>
        <p:nvPicPr>
          <p:cNvPr id="3" name="Скриншот 16_direction" descr="16_dir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871097" cy="3931920"/>
          </a:xfrm>
          <a:prstGeom prst="rect">
            <a:avLst/>
          </a:prstGeom>
        </p:spPr>
      </p:pic>
      <p:sp>
        <p:nvSpPr>
          <p:cNvPr id="4" name="Номер 1"/>
          <p:cNvSpPr/>
          <p:nvPr/>
        </p:nvSpPr>
        <p:spPr>
          <a:xfrm>
            <a:off x="548640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1051560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Направление</a:t>
            </a:r>
            <a:endParaRPr lang="en-US" sz="1300" dirty="0"/>
          </a:p>
        </p:txBody>
      </p:sp>
      <p:pic>
        <p:nvPicPr>
          <p:cNvPr id="6" name="Скриншот 17_diagnostic" descr="17_diagnosti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057" y="1325880"/>
            <a:ext cx="1871097" cy="3931920"/>
          </a:xfrm>
          <a:prstGeom prst="rect">
            <a:avLst/>
          </a:prstGeom>
        </p:spPr>
      </p:pic>
      <p:sp>
        <p:nvSpPr>
          <p:cNvPr id="7" name="Номер 2"/>
          <p:cNvSpPr/>
          <p:nvPr/>
        </p:nvSpPr>
        <p:spPr>
          <a:xfrm>
            <a:off x="2694057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3196977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Диагностический тест</a:t>
            </a:r>
            <a:endParaRPr lang="en-US" sz="1300" dirty="0"/>
          </a:p>
        </p:txBody>
      </p:sp>
      <p:pic>
        <p:nvPicPr>
          <p:cNvPr id="9" name="Скриншот 18_schedule" descr="18_schedu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9473" y="1325880"/>
            <a:ext cx="1871097" cy="3931920"/>
          </a:xfrm>
          <a:prstGeom prst="rect">
            <a:avLst/>
          </a:prstGeom>
        </p:spPr>
      </p:pic>
      <p:sp>
        <p:nvSpPr>
          <p:cNvPr id="10" name="Номер 3"/>
          <p:cNvSpPr/>
          <p:nvPr/>
        </p:nvSpPr>
        <p:spPr>
          <a:xfrm>
            <a:off x="4839473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42393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Часы, дни, дедлайн</a:t>
            </a:r>
            <a:endParaRPr lang="en-US" sz="1300" dirty="0"/>
          </a:p>
        </p:txBody>
      </p:sp>
      <p:pic>
        <p:nvPicPr>
          <p:cNvPr id="12" name="Скриншот 19_preview" descr="19_previe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4890" y="1325880"/>
            <a:ext cx="1871097" cy="3931920"/>
          </a:xfrm>
          <a:prstGeom prst="rect">
            <a:avLst/>
          </a:prstGeom>
        </p:spPr>
      </p:pic>
      <p:sp>
        <p:nvSpPr>
          <p:cNvPr id="13" name="Номер 4"/>
          <p:cNvSpPr/>
          <p:nvPr/>
        </p:nvSpPr>
        <p:spPr>
          <a:xfrm>
            <a:off x="6984890" y="544068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7487810" y="5349240"/>
            <a:ext cx="14596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Готовый план</a:t>
            </a:r>
            <a:endParaRPr lang="en-US" sz="1300" dirty="0"/>
          </a:p>
        </p:txBody>
      </p:sp>
      <p:sp>
        <p:nvSpPr>
          <p:cNvPr id="15" name="Пояснение"/>
          <p:cNvSpPr/>
          <p:nvPr/>
        </p:nvSpPr>
        <p:spPr>
          <a:xfrm>
            <a:off x="9176027" y="1325880"/>
            <a:ext cx="2464285" cy="4617720"/>
          </a:xfrm>
          <a:prstGeom prst="roundRect">
            <a:avLst>
              <a:gd name="adj" fmla="val 4453"/>
            </a:avLst>
          </a:prstGeom>
          <a:solidFill>
            <a:schemeClr val="bg2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9404627" y="1554480"/>
            <a:ext cx="2007085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 направления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Flutter, Python, английский A1–B1, алгоритмы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32 вопроса теста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исключают уже знакомые темы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Предпросмотр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порядок тем, часы и дата окончания до старта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Анализ версии 1 семестра: 8 недостатков исправлены</a:t>
            </a:r>
            <a:endParaRPr lang="en-US" sz="3200" dirty="0"/>
          </a:p>
        </p:txBody>
      </p:sp>
      <p:graphicFrame>
        <p:nvGraphicFramePr>
          <p:cNvPr id="10" name="Таблица недостатков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463040"/>
                <a:gridCol w="54223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Недостаток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Приоритет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Что сделано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Пароль — однократный SHA-256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Высокий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PBKDF2-HMAC-SHA256, 100 000 итераций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 удаления аккаунта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Удаление с паролем и каскадом данных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 настроены уведомления Android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Высокий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Приёмники, RECEIVE_BOOT_COMPLETED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Цветной значок уведомления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</a:rPr>
                        <a:t>Низкий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Белый векторный значок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Иконка Flutter и имя «marshrut»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Своя иконка и название «Маршрут»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Нет релизного APK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Высокий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APK и Windows собираются автоматически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Тесты только вручную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GitHub Actions на каждое изменение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Сценарии 2 семестра без тестов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Средний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Виджет-тесты CRUD, найдена ошибка № 12</a:t>
                      </a:r>
                      <a:endParaRPr lang="en-US" sz="1400" dirty="0"/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Как искали: сверка с критериями, документацией пакетов и рекомендациями OWASP, ручная проверка, новые тесты сценариев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Полный функционал и дополнительные возможности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Основные сценарии связаны между собой: отметка занятия меняет прогресс, статистику и план</a:t>
            </a:r>
            <a:endParaRPr lang="en-US" sz="1500" dirty="0"/>
          </a:p>
        </p:txBody>
      </p:sp>
      <p:sp>
        <p:nvSpPr>
          <p:cNvPr id="4" name="Метка Перепланирование"/>
          <p:cNvSpPr/>
          <p:nvPr/>
        </p:nvSpPr>
        <p:spPr>
          <a:xfrm>
            <a:off x="548640" y="237744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Перепланирование</a:t>
            </a:r>
            <a:endParaRPr lang="en-US" sz="1300" dirty="0"/>
          </a:p>
        </p:txBody>
      </p:sp>
      <p:sp>
        <p:nvSpPr>
          <p:cNvPr id="5" name="Метка Pomodoro"/>
          <p:cNvSpPr/>
          <p:nvPr/>
        </p:nvSpPr>
        <p:spPr>
          <a:xfrm>
            <a:off x="2560320" y="237744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Pomodoro</a:t>
            </a:r>
            <a:endParaRPr lang="en-US" sz="1300" dirty="0"/>
          </a:p>
        </p:txBody>
      </p:sp>
      <p:sp>
        <p:nvSpPr>
          <p:cNvPr id="6" name="Метка Несколько планов"/>
          <p:cNvSpPr/>
          <p:nvPr/>
        </p:nvSpPr>
        <p:spPr>
          <a:xfrm>
            <a:off x="548640" y="288950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Несколько планов</a:t>
            </a:r>
            <a:endParaRPr lang="en-US" sz="1300" dirty="0"/>
          </a:p>
        </p:txBody>
      </p:sp>
      <p:sp>
        <p:nvSpPr>
          <p:cNvPr id="7" name="Метка Свои темы"/>
          <p:cNvSpPr/>
          <p:nvPr/>
        </p:nvSpPr>
        <p:spPr>
          <a:xfrm>
            <a:off x="2560320" y="288950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Свои темы</a:t>
            </a:r>
            <a:endParaRPr lang="en-US" sz="1300" dirty="0"/>
          </a:p>
        </p:txBody>
      </p:sp>
      <p:sp>
        <p:nvSpPr>
          <p:cNvPr id="8" name="Метка Заметки"/>
          <p:cNvSpPr/>
          <p:nvPr/>
        </p:nvSpPr>
        <p:spPr>
          <a:xfrm>
            <a:off x="548640" y="3401568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Заметки</a:t>
            </a:r>
            <a:endParaRPr lang="en-US" sz="1300" dirty="0"/>
          </a:p>
        </p:txBody>
      </p:sp>
      <p:sp>
        <p:nvSpPr>
          <p:cNvPr id="9" name="Метка Поиск"/>
          <p:cNvSpPr/>
          <p:nvPr/>
        </p:nvSpPr>
        <p:spPr>
          <a:xfrm>
            <a:off x="2560320" y="3401568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Поиск</a:t>
            </a:r>
            <a:endParaRPr lang="en-US" sz="1300" dirty="0"/>
          </a:p>
        </p:txBody>
      </p:sp>
      <p:sp>
        <p:nvSpPr>
          <p:cNvPr id="10" name="Метка Фильтры"/>
          <p:cNvSpPr/>
          <p:nvPr/>
        </p:nvSpPr>
        <p:spPr>
          <a:xfrm>
            <a:off x="548640" y="3913632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Фильтры</a:t>
            </a:r>
            <a:endParaRPr lang="en-US" sz="1300" dirty="0"/>
          </a:p>
        </p:txBody>
      </p:sp>
      <p:sp>
        <p:nvSpPr>
          <p:cNvPr id="11" name="Метка Избранное"/>
          <p:cNvSpPr/>
          <p:nvPr/>
        </p:nvSpPr>
        <p:spPr>
          <a:xfrm>
            <a:off x="2560320" y="3913632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Избранное</a:t>
            </a:r>
            <a:endParaRPr lang="en-US" sz="1300" dirty="0"/>
          </a:p>
        </p:txBody>
      </p:sp>
      <p:sp>
        <p:nvSpPr>
          <p:cNvPr id="12" name="Метка Категории"/>
          <p:cNvSpPr/>
          <p:nvPr/>
        </p:nvSpPr>
        <p:spPr>
          <a:xfrm>
            <a:off x="548640" y="4425696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Категории</a:t>
            </a:r>
            <a:endParaRPr lang="en-US" sz="1300" dirty="0"/>
          </a:p>
        </p:txBody>
      </p:sp>
      <p:sp>
        <p:nvSpPr>
          <p:cNvPr id="13" name="Метка Уведомления"/>
          <p:cNvSpPr/>
          <p:nvPr/>
        </p:nvSpPr>
        <p:spPr>
          <a:xfrm>
            <a:off x="2560320" y="4425696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Уведомления</a:t>
            </a:r>
            <a:endParaRPr lang="en-US" sz="1300" dirty="0"/>
          </a:p>
        </p:txBody>
      </p:sp>
      <p:sp>
        <p:nvSpPr>
          <p:cNvPr id="14" name="Метка История"/>
          <p:cNvSpPr/>
          <p:nvPr/>
        </p:nvSpPr>
        <p:spPr>
          <a:xfrm>
            <a:off x="548640" y="493776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История</a:t>
            </a:r>
            <a:endParaRPr lang="en-US" sz="1300" dirty="0"/>
          </a:p>
        </p:txBody>
      </p:sp>
      <p:sp>
        <p:nvSpPr>
          <p:cNvPr id="15" name="Метка Графики"/>
          <p:cNvSpPr/>
          <p:nvPr/>
        </p:nvSpPr>
        <p:spPr>
          <a:xfrm>
            <a:off x="2560320" y="4937760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Графики</a:t>
            </a:r>
            <a:endParaRPr lang="en-US" sz="1300" dirty="0"/>
          </a:p>
        </p:txBody>
      </p:sp>
      <p:sp>
        <p:nvSpPr>
          <p:cNvPr id="16" name="Метка Тёмная тема"/>
          <p:cNvSpPr/>
          <p:nvPr/>
        </p:nvSpPr>
        <p:spPr>
          <a:xfrm>
            <a:off x="548640" y="544982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Тёмная тема</a:t>
            </a:r>
            <a:endParaRPr lang="en-US" sz="1300" dirty="0"/>
          </a:p>
        </p:txBody>
      </p:sp>
      <p:sp>
        <p:nvSpPr>
          <p:cNvPr id="17" name="Метка iPhone и Windows"/>
          <p:cNvSpPr/>
          <p:nvPr/>
        </p:nvSpPr>
        <p:spPr>
          <a:xfrm>
            <a:off x="2560320" y="5449824"/>
            <a:ext cx="1874520" cy="402336"/>
          </a:xfrm>
          <a:prstGeom prst="roundRect">
            <a:avLst>
              <a:gd name="adj" fmla="val 45455"/>
            </a:avLst>
          </a:prstGeom>
          <a:solidFill>
            <a:schemeClr val="bg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iPhone и Windows</a:t>
            </a:r>
            <a:endParaRPr lang="en-US" sz="1300" dirty="0"/>
          </a:p>
        </p:txBody>
      </p:sp>
      <p:pic>
        <p:nvPicPr>
          <p:cNvPr id="18" name="Скриншот 06_plan" descr="План по дня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8963" y="1325880"/>
            <a:ext cx="2110423" cy="443484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4486083" y="5852160"/>
            <a:ext cx="24761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План по дням</a:t>
            </a:r>
            <a:endParaRPr lang="en-US" sz="1200" dirty="0"/>
          </a:p>
        </p:txBody>
      </p:sp>
      <p:pic>
        <p:nvPicPr>
          <p:cNvPr id="20" name="Скриншот 09_stats" descr="Статисти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426" y="1325880"/>
            <a:ext cx="2110423" cy="44348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6916546" y="5852160"/>
            <a:ext cx="24761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Статистика</a:t>
            </a:r>
            <a:endParaRPr lang="en-US" sz="1200" dirty="0"/>
          </a:p>
        </p:txBody>
      </p:sp>
      <p:pic>
        <p:nvPicPr>
          <p:cNvPr id="22" name="Скриншот 12_pomodoro" descr="Pomodor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9889" y="1325880"/>
            <a:ext cx="2110423" cy="443484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347009" y="5852160"/>
            <a:ext cx="24761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Pomodoro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Данные: 9 таблиц SQLite на сервере, доступ только через API</a:t>
            </a:r>
            <a:endParaRPr lang="en-US" sz="3200" dirty="0"/>
          </a:p>
        </p:txBody>
      </p:sp>
      <p:sp>
        <p:nvSpPr>
          <p:cNvPr id="3" name="Таблица users"/>
          <p:cNvSpPr/>
          <p:nvPr/>
        </p:nvSpPr>
        <p:spPr>
          <a:xfrm>
            <a:off x="548640" y="3200400"/>
            <a:ext cx="173736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users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пользователи</a:t>
            </a:r>
            <a:endParaRPr lang="en-US" sz="1400" dirty="0"/>
          </a:p>
        </p:txBody>
      </p:sp>
      <p:sp>
        <p:nvSpPr>
          <p:cNvPr id="4" name="Таблица plans"/>
          <p:cNvSpPr/>
          <p:nvPr/>
        </p:nvSpPr>
        <p:spPr>
          <a:xfrm>
            <a:off x="2926080" y="1371600"/>
            <a:ext cx="2011680" cy="54864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plans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планы</a:t>
            </a:r>
            <a:endParaRPr lang="en-US" sz="1400" dirty="0"/>
          </a:p>
        </p:txBody>
      </p:sp>
      <p:sp>
        <p:nvSpPr>
          <p:cNvPr id="5" name="Связь"/>
          <p:cNvSpPr/>
          <p:nvPr/>
        </p:nvSpPr>
        <p:spPr>
          <a:xfrm flipV="1">
            <a:off x="2286000" y="1645920"/>
            <a:ext cx="640080" cy="182880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Таблица custom_topics"/>
          <p:cNvSpPr/>
          <p:nvPr/>
        </p:nvSpPr>
        <p:spPr>
          <a:xfrm>
            <a:off x="2926080" y="2103120"/>
            <a:ext cx="201168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custom_topics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свои темы</a:t>
            </a:r>
            <a:endParaRPr lang="en-US" sz="1400" dirty="0"/>
          </a:p>
        </p:txBody>
      </p:sp>
      <p:sp>
        <p:nvSpPr>
          <p:cNvPr id="7" name="Связь"/>
          <p:cNvSpPr/>
          <p:nvPr/>
        </p:nvSpPr>
        <p:spPr>
          <a:xfrm flipV="1">
            <a:off x="2286000" y="2377440"/>
            <a:ext cx="640080" cy="109728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Таблица notes"/>
          <p:cNvSpPr/>
          <p:nvPr/>
        </p:nvSpPr>
        <p:spPr>
          <a:xfrm>
            <a:off x="2926080" y="2834640"/>
            <a:ext cx="201168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notes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заметки</a:t>
            </a:r>
            <a:endParaRPr lang="en-US" sz="1400" dirty="0"/>
          </a:p>
        </p:txBody>
      </p:sp>
      <p:sp>
        <p:nvSpPr>
          <p:cNvPr id="9" name="Связь"/>
          <p:cNvSpPr/>
          <p:nvPr/>
        </p:nvSpPr>
        <p:spPr>
          <a:xfrm flipV="1">
            <a:off x="2286000" y="3108960"/>
            <a:ext cx="640080" cy="36576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Таблица favorites"/>
          <p:cNvSpPr/>
          <p:nvPr/>
        </p:nvSpPr>
        <p:spPr>
          <a:xfrm>
            <a:off x="2926080" y="3566160"/>
            <a:ext cx="201168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favorites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избранное</a:t>
            </a:r>
            <a:endParaRPr lang="en-US" sz="1400" dirty="0"/>
          </a:p>
        </p:txBody>
      </p:sp>
      <p:sp>
        <p:nvSpPr>
          <p:cNvPr id="11" name="Связь"/>
          <p:cNvSpPr/>
          <p:nvPr/>
        </p:nvSpPr>
        <p:spPr>
          <a:xfrm>
            <a:off x="2286000" y="3474720"/>
            <a:ext cx="640080" cy="36576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Таблица pomodoro_logs"/>
          <p:cNvSpPr/>
          <p:nvPr/>
        </p:nvSpPr>
        <p:spPr>
          <a:xfrm>
            <a:off x="2926080" y="4297680"/>
            <a:ext cx="201168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pomodoro_logs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помидоры</a:t>
            </a:r>
            <a:endParaRPr lang="en-US" sz="1400" dirty="0"/>
          </a:p>
        </p:txBody>
      </p:sp>
      <p:sp>
        <p:nvSpPr>
          <p:cNvPr id="13" name="Связь"/>
          <p:cNvSpPr/>
          <p:nvPr/>
        </p:nvSpPr>
        <p:spPr>
          <a:xfrm>
            <a:off x="2286000" y="3474720"/>
            <a:ext cx="640080" cy="109728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Таблица api_tokens"/>
          <p:cNvSpPr/>
          <p:nvPr/>
        </p:nvSpPr>
        <p:spPr>
          <a:xfrm>
            <a:off x="2926080" y="5029200"/>
            <a:ext cx="2011680" cy="548640"/>
          </a:xfrm>
          <a:prstGeom prst="roundRect">
            <a:avLst>
              <a:gd name="adj" fmla="val 16667"/>
            </a:avLst>
          </a:prstGeom>
          <a:solidFill>
            <a:srgbClr val="FFE3C4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api_tokens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токены входа</a:t>
            </a:r>
            <a:endParaRPr lang="en-US" sz="1400" dirty="0"/>
          </a:p>
        </p:txBody>
      </p:sp>
      <p:sp>
        <p:nvSpPr>
          <p:cNvPr id="15" name="Связь"/>
          <p:cNvSpPr/>
          <p:nvPr/>
        </p:nvSpPr>
        <p:spPr>
          <a:xfrm>
            <a:off x="2286000" y="3474720"/>
            <a:ext cx="640080" cy="182880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Таблица plan_topics"/>
          <p:cNvSpPr/>
          <p:nvPr/>
        </p:nvSpPr>
        <p:spPr>
          <a:xfrm>
            <a:off x="5577840" y="1325880"/>
            <a:ext cx="18288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plan_topics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темы плана</a:t>
            </a:r>
            <a:endParaRPr lang="en-US" sz="1400" dirty="0"/>
          </a:p>
        </p:txBody>
      </p:sp>
      <p:sp>
        <p:nvSpPr>
          <p:cNvPr id="17" name="Связь"/>
          <p:cNvSpPr/>
          <p:nvPr/>
        </p:nvSpPr>
        <p:spPr>
          <a:xfrm flipV="1">
            <a:off x="4937760" y="1600200"/>
            <a:ext cx="640080" cy="4572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8" name="Таблица sessions"/>
          <p:cNvSpPr/>
          <p:nvPr/>
        </p:nvSpPr>
        <p:spPr>
          <a:xfrm>
            <a:off x="5577840" y="2103120"/>
            <a:ext cx="1828800" cy="548640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sessions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занятия</a:t>
            </a:r>
            <a:endParaRPr lang="en-US" sz="1400" dirty="0"/>
          </a:p>
        </p:txBody>
      </p:sp>
      <p:sp>
        <p:nvSpPr>
          <p:cNvPr id="19" name="Связь"/>
          <p:cNvSpPr/>
          <p:nvPr/>
        </p:nvSpPr>
        <p:spPr>
          <a:xfrm>
            <a:off x="4937760" y="1645920"/>
            <a:ext cx="640080" cy="73152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0" name="Каскад"/>
          <p:cNvSpPr/>
          <p:nvPr/>
        </p:nvSpPr>
        <p:spPr>
          <a:xfrm>
            <a:off x="5577840" y="3063240"/>
            <a:ext cx="1828800" cy="25146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742432" y="3200400"/>
            <a:ext cx="1554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1 : 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ON DELETE CASCADE: удаление аккаунта удаляет все его данные и токены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Каталог тем — JSON на сервере, приложение получает его через GET /api/directions</a:t>
            </a:r>
            <a:endParaRPr lang="en-US" sz="1200" dirty="0"/>
          </a:p>
        </p:txBody>
      </p:sp>
      <p:sp>
        <p:nvSpPr>
          <p:cNvPr id="23" name="CRUD"/>
          <p:cNvSpPr/>
          <p:nvPr/>
        </p:nvSpPr>
        <p:spPr>
          <a:xfrm>
            <a:off x="7772400" y="1325880"/>
            <a:ext cx="3867912" cy="4846320"/>
          </a:xfrm>
          <a:prstGeom prst="roundRect">
            <a:avLst>
              <a:gd name="adj" fmla="val 2837"/>
            </a:avLst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001000" y="14813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ПОЛНЫЙ CRUD ЧЕРЕЗ API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001000" y="18745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Заметки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01000" y="218541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· POST · PUT · DELETE  </a:t>
            </a:r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/api/notes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27432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Свои темы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001000" y="305409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· POST · PUT · DELETE  </a:t>
            </a:r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/api/custom-topics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001000" y="361188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Планы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3922776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· POST · PUT · DELETE  </a:t>
            </a:r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/api/plans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526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КОДЫ ОТВЕТОВ</a:t>
            </a:r>
            <a:endParaRPr lang="en-US" sz="1300" dirty="0"/>
          </a:p>
        </p:txBody>
      </p:sp>
      <p:sp>
        <p:nvSpPr>
          <p:cNvPr id="32" name="Метка 200"/>
          <p:cNvSpPr/>
          <p:nvPr/>
        </p:nvSpPr>
        <p:spPr>
          <a:xfrm>
            <a:off x="8001000" y="4864608"/>
            <a:ext cx="73152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200</a:t>
            </a:r>
            <a:endParaRPr lang="en-US" sz="1300" dirty="0"/>
          </a:p>
        </p:txBody>
      </p:sp>
      <p:sp>
        <p:nvSpPr>
          <p:cNvPr id="33" name="Метка 201"/>
          <p:cNvSpPr/>
          <p:nvPr/>
        </p:nvSpPr>
        <p:spPr>
          <a:xfrm>
            <a:off x="8851392" y="4864608"/>
            <a:ext cx="73152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201</a:t>
            </a:r>
            <a:endParaRPr lang="en-US" sz="1300" dirty="0"/>
          </a:p>
        </p:txBody>
      </p:sp>
      <p:sp>
        <p:nvSpPr>
          <p:cNvPr id="34" name="Метка 204"/>
          <p:cNvSpPr/>
          <p:nvPr/>
        </p:nvSpPr>
        <p:spPr>
          <a:xfrm>
            <a:off x="9701784" y="4864608"/>
            <a:ext cx="731520" cy="384048"/>
          </a:xfrm>
          <a:prstGeom prst="roundRect">
            <a:avLst>
              <a:gd name="adj" fmla="val 47619"/>
            </a:avLst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204</a:t>
            </a:r>
            <a:endParaRPr lang="en-US" sz="1300" dirty="0"/>
          </a:p>
        </p:txBody>
      </p:sp>
      <p:sp>
        <p:nvSpPr>
          <p:cNvPr id="35" name="Метка 400"/>
          <p:cNvSpPr/>
          <p:nvPr/>
        </p:nvSpPr>
        <p:spPr>
          <a:xfrm>
            <a:off x="10552176" y="4864608"/>
            <a:ext cx="73152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400</a:t>
            </a:r>
            <a:endParaRPr lang="en-US" sz="1300" dirty="0"/>
          </a:p>
        </p:txBody>
      </p:sp>
      <p:sp>
        <p:nvSpPr>
          <p:cNvPr id="36" name="Метка 401"/>
          <p:cNvSpPr/>
          <p:nvPr/>
        </p:nvSpPr>
        <p:spPr>
          <a:xfrm>
            <a:off x="8001000" y="5367528"/>
            <a:ext cx="73152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401</a:t>
            </a:r>
            <a:endParaRPr lang="en-US" sz="1300" dirty="0"/>
          </a:p>
        </p:txBody>
      </p:sp>
      <p:sp>
        <p:nvSpPr>
          <p:cNvPr id="37" name="Метка 404"/>
          <p:cNvSpPr/>
          <p:nvPr/>
        </p:nvSpPr>
        <p:spPr>
          <a:xfrm>
            <a:off x="8851392" y="5367528"/>
            <a:ext cx="73152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404</a:t>
            </a:r>
            <a:endParaRPr lang="en-US" sz="1300" dirty="0"/>
          </a:p>
        </p:txBody>
      </p:sp>
      <p:sp>
        <p:nvSpPr>
          <p:cNvPr id="38" name="Метка 500"/>
          <p:cNvSpPr/>
          <p:nvPr/>
        </p:nvSpPr>
        <p:spPr>
          <a:xfrm>
            <a:off x="9701784" y="5367528"/>
            <a:ext cx="731520" cy="384048"/>
          </a:xfrm>
          <a:prstGeom prst="roundRect">
            <a:avLst>
              <a:gd name="adj" fmla="val 47619"/>
            </a:avLst>
          </a:prstGeom>
          <a:solidFill>
            <a:schemeClr val="bg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500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Демонстрация: каждое действие видно в журнале сервера</a:t>
            </a:r>
            <a:endParaRPr lang="en-US" sz="3200" dirty="0"/>
          </a:p>
        </p:txBody>
      </p:sp>
      <p:pic>
        <p:nvPicPr>
          <p:cNvPr id="3" name="Скриншот 26_server_address" descr="Адрес сервер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13218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5897880"/>
            <a:ext cx="2497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Адрес сервера</a:t>
            </a:r>
            <a:endParaRPr lang="en-US" sz="1200" dirty="0"/>
          </a:p>
        </p:txBody>
      </p:sp>
      <p:pic>
        <p:nvPicPr>
          <p:cNvPr id="5" name="Скриншот 13_notes" descr="Заметк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0860" y="1325880"/>
            <a:ext cx="2132180" cy="44805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817980" y="5897880"/>
            <a:ext cx="24979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Заметки</a:t>
            </a:r>
            <a:endParaRPr lang="en-US" sz="1200" dirty="0"/>
          </a:p>
        </p:txBody>
      </p:sp>
      <p:sp>
        <p:nvSpPr>
          <p:cNvPr id="7" name="Журнал сервера"/>
          <p:cNvSpPr/>
          <p:nvPr/>
        </p:nvSpPr>
        <p:spPr>
          <a:xfrm>
            <a:off x="5544520" y="1325880"/>
            <a:ext cx="6095792" cy="2514600"/>
          </a:xfrm>
          <a:prstGeom prst="roundRect">
            <a:avLst>
              <a:gd name="adj" fmla="val 4364"/>
            </a:avLst>
          </a:prstGeom>
          <a:solidFill>
            <a:schemeClr val="tx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773120" y="1463040"/>
            <a:ext cx="5638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ОКНО СЕРВЕРА НА НОУТБУКЕ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773120" y="1828800"/>
            <a:ext cx="563859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  /api/auth/login  → 200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  /api/notes       → 201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PUT    /api/notes/1     → 204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/api/notes/1     → 204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  /api/notes       → 401</a:t>
            </a:r>
            <a:endParaRPr lang="en-US" sz="1400" dirty="0"/>
          </a:p>
        </p:txBody>
      </p:sp>
      <p:sp>
        <p:nvSpPr>
          <p:cNvPr id="10" name="Номер 1"/>
          <p:cNvSpPr/>
          <p:nvPr/>
        </p:nvSpPr>
        <p:spPr>
          <a:xfrm>
            <a:off x="5544520" y="40690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093160" y="4069080"/>
            <a:ext cx="5547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Запустить сервер, телефон в той же сети Wi-Fi</a:t>
            </a:r>
            <a:endParaRPr lang="en-US" sz="1400" dirty="0"/>
          </a:p>
        </p:txBody>
      </p:sp>
      <p:sp>
        <p:nvSpPr>
          <p:cNvPr id="12" name="Номер 2"/>
          <p:cNvSpPr/>
          <p:nvPr/>
        </p:nvSpPr>
        <p:spPr>
          <a:xfrm>
            <a:off x="5544520" y="459943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093160" y="4599432"/>
            <a:ext cx="5547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Создать, изменить и удалить заметку</a:t>
            </a:r>
            <a:endParaRPr lang="en-US" sz="1400" dirty="0"/>
          </a:p>
        </p:txBody>
      </p:sp>
      <p:sp>
        <p:nvSpPr>
          <p:cNvPr id="14" name="Номер 3"/>
          <p:cNvSpPr/>
          <p:nvPr/>
        </p:nvSpPr>
        <p:spPr>
          <a:xfrm>
            <a:off x="5544520" y="51297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093160" y="5129784"/>
            <a:ext cx="5547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 журнале: POST → 201, PUT и DELETE → 204</a:t>
            </a:r>
            <a:endParaRPr lang="en-US" sz="1400" dirty="0"/>
          </a:p>
        </p:txBody>
      </p:sp>
      <p:sp>
        <p:nvSpPr>
          <p:cNvPr id="16" name="Номер 4"/>
          <p:cNvSpPr/>
          <p:nvPr/>
        </p:nvSpPr>
        <p:spPr>
          <a:xfrm>
            <a:off x="5544520" y="566013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6093160" y="5660136"/>
            <a:ext cx="5547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Выключить сервер: «Нет связи с сервером»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Профиль и безопасность</a:t>
            </a:r>
            <a:endParaRPr lang="en-US" sz="3200" dirty="0"/>
          </a:p>
        </p:txBody>
      </p:sp>
      <p:pic>
        <p:nvPicPr>
          <p:cNvPr id="3" name="Скриншот 10_profile" descr="Профил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2153937" cy="4526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5943600"/>
            <a:ext cx="25196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Профиль</a:t>
            </a:r>
            <a:endParaRPr lang="en-US" sz="1200" dirty="0"/>
          </a:p>
        </p:txBody>
      </p:sp>
      <p:pic>
        <p:nvPicPr>
          <p:cNvPr id="5" name="Скриншот 25_delete_account" descr="Удаление аккаунт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37" y="1325880"/>
            <a:ext cx="2153937" cy="45262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885457" y="5943600"/>
            <a:ext cx="251969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Удаление аккаунта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770914" y="13716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Профиль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770914" y="1828800"/>
            <a:ext cx="586939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Редактирование имени, email и цвета аватара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Смена пароля с проверкой текущего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Тема оформления и ежедневное напоминание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Удаление аккаунта с подтверждением паролем</a:t>
            </a:r>
            <a:endParaRPr lang="en-US" sz="1500" dirty="0"/>
          </a:p>
        </p:txBody>
      </p:sp>
      <p:sp>
        <p:nvSpPr>
          <p:cNvPr id="9" name="Безопасность"/>
          <p:cNvSpPr/>
          <p:nvPr/>
        </p:nvSpPr>
        <p:spPr>
          <a:xfrm>
            <a:off x="5770914" y="3749040"/>
            <a:ext cx="5869398" cy="2103120"/>
          </a:xfrm>
          <a:prstGeom prst="roundRect">
            <a:avLst>
              <a:gd name="adj" fmla="val 5217"/>
            </a:avLst>
          </a:prstGeom>
          <a:solidFill>
            <a:schemeClr val="tx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045234" y="39319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100 000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6045234" y="4663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итераций PBKDF2-HMAC-SHA256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879874" y="3977640"/>
            <a:ext cx="25318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Соль 16 байт. Токен входа — 32 случайных байта, в базе только его SHA-256, действует 30 дней, удаляется при выходе.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UI/UX: одна система на телефоне и компьютере</a:t>
            </a:r>
            <a:endParaRPr lang="en-US" sz="3200" dirty="0"/>
          </a:p>
        </p:txBody>
      </p:sp>
      <p:pic>
        <p:nvPicPr>
          <p:cNvPr id="3" name="Скриншот Windows" descr="Главная в окне Window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380534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314105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Material 3, тёмно-синий и оранжевый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Боковая панель вместо нижней от 840 px</a:t>
            </a:r>
            <a:endParaRPr lang="en-US" sz="13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Пустые состояния и подтверждение необратимых действий</a:t>
            </a:r>
            <a:endParaRPr lang="en-US" sz="1300" dirty="0"/>
          </a:p>
        </p:txBody>
      </p:sp>
      <p:pic>
        <p:nvPicPr>
          <p:cNvPr id="5" name="Скриншот 20_home_dark" descr="Тёмная тем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7537" y="1325880"/>
            <a:ext cx="1936368" cy="4069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264657" y="548640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Тёмная тема</a:t>
            </a:r>
            <a:endParaRPr lang="en-US" sz="1200" dirty="0"/>
          </a:p>
        </p:txBody>
      </p:sp>
      <p:pic>
        <p:nvPicPr>
          <p:cNvPr id="7" name="Скриншот 21_stats_dark" descr="График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944" y="1325880"/>
            <a:ext cx="1936368" cy="40690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521064" y="5486400"/>
            <a:ext cx="2302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Графики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Тестирование: 137 автотестов и 27 исправленных ошибок</a:t>
            </a:r>
            <a:endParaRPr lang="en-US" sz="3200" dirty="0"/>
          </a:p>
        </p:txBody>
      </p:sp>
      <p:sp>
        <p:nvSpPr>
          <p:cNvPr id="3" name="Факт модульных и виджет-тестов"/>
          <p:cNvSpPr/>
          <p:nvPr/>
        </p:nvSpPr>
        <p:spPr>
          <a:xfrm>
            <a:off x="548640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137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модульных и виджет-тестов</a:t>
            </a:r>
            <a:endParaRPr lang="en-US" sz="1300" dirty="0"/>
          </a:p>
        </p:txBody>
      </p:sp>
      <p:sp>
        <p:nvSpPr>
          <p:cNvPr id="6" name="Факт тест-кейсов"/>
          <p:cNvSpPr/>
          <p:nvPr/>
        </p:nvSpPr>
        <p:spPr>
          <a:xfrm>
            <a:off x="3364992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593592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45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593592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тест-кейсов</a:t>
            </a:r>
            <a:endParaRPr lang="en-US" sz="1300" dirty="0"/>
          </a:p>
        </p:txBody>
      </p:sp>
      <p:sp>
        <p:nvSpPr>
          <p:cNvPr id="9" name="Факт снимков экранов проверено"/>
          <p:cNvSpPr/>
          <p:nvPr/>
        </p:nvSpPr>
        <p:spPr>
          <a:xfrm>
            <a:off x="6181344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9944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280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09944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снимков экранов проверено</a:t>
            </a:r>
            <a:endParaRPr lang="en-US" sz="1300" dirty="0"/>
          </a:p>
        </p:txBody>
      </p:sp>
      <p:sp>
        <p:nvSpPr>
          <p:cNvPr id="12" name="Факт ошибок найдено и исправлено"/>
          <p:cNvSpPr/>
          <p:nvPr/>
        </p:nvSpPr>
        <p:spPr>
          <a:xfrm>
            <a:off x="8997696" y="1325880"/>
            <a:ext cx="260604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26296" y="14173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27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226296" y="21945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ошибок найдено и исправлено</a:t>
            </a:r>
            <a:endParaRPr lang="en-US" sz="1300" dirty="0"/>
          </a:p>
        </p:txBody>
      </p:sp>
      <p:graphicFrame>
        <p:nvGraphicFramePr>
          <p:cNvPr id="15" name="Диаграмма тестов" descr=""/>
          <p:cNvGraphicFramePr/>
          <p:nvPr/>
        </p:nvGraphicFramePr>
        <p:xfrm>
          <a:off x="548640" y="2971800"/>
          <a:ext cx="60350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CI"/>
          <p:cNvSpPr/>
          <p:nvPr/>
        </p:nvSpPr>
        <p:spPr>
          <a:xfrm>
            <a:off x="6949440" y="3017520"/>
            <a:ext cx="4690872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78040" y="3200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GITHUB ACTIONS НА КАЖДОЕ ИЗМЕНЕНИЕ</a:t>
            </a:r>
            <a:endParaRPr lang="en-US" sz="1300" dirty="0"/>
          </a:p>
        </p:txBody>
      </p:sp>
      <p:sp>
        <p:nvSpPr>
          <p:cNvPr id="18" name="Номер 1"/>
          <p:cNvSpPr/>
          <p:nvPr/>
        </p:nvSpPr>
        <p:spPr>
          <a:xfrm>
            <a:off x="7178040" y="3657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726680" y="365760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Формат, flutter analyze, все тесты</a:t>
            </a:r>
            <a:endParaRPr lang="en-US" sz="1400" dirty="0"/>
          </a:p>
        </p:txBody>
      </p:sp>
      <p:sp>
        <p:nvSpPr>
          <p:cNvPr id="20" name="Номер 2"/>
          <p:cNvSpPr/>
          <p:nvPr/>
        </p:nvSpPr>
        <p:spPr>
          <a:xfrm>
            <a:off x="7178040" y="422452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7726680" y="42245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Интеграционный тест с HTTP-сервером</a:t>
            </a:r>
            <a:endParaRPr lang="en-US" sz="1400" dirty="0"/>
          </a:p>
        </p:txBody>
      </p:sp>
      <p:sp>
        <p:nvSpPr>
          <p:cNvPr id="22" name="Номер 3"/>
          <p:cNvSpPr/>
          <p:nvPr/>
        </p:nvSpPr>
        <p:spPr>
          <a:xfrm>
            <a:off x="7178040" y="479145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726680" y="479145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Сборки: APK, IPA для iPhone, Windows</a:t>
            </a:r>
            <a:endParaRPr lang="en-US" sz="1400" dirty="0"/>
          </a:p>
        </p:txBody>
      </p:sp>
      <p:sp>
        <p:nvSpPr>
          <p:cNvPr id="24" name="Номер 4"/>
          <p:cNvSpPr/>
          <p:nvPr/>
        </p:nvSpPr>
        <p:spPr>
          <a:xfrm>
            <a:off x="7178040" y="53583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726680" y="535838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Программа-сервер API для Windows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Курсовая работа и релизная сборка</a:t>
            </a:r>
            <a:endParaRPr lang="en-US" sz="3200" dirty="0"/>
          </a:p>
        </p:txBody>
      </p:sp>
      <p:sp>
        <p:nvSpPr>
          <p:cNvPr id="3" name="Раздел Введение"/>
          <p:cNvSpPr/>
          <p:nvPr/>
        </p:nvSpPr>
        <p:spPr>
          <a:xfrm>
            <a:off x="548640" y="1325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44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Введение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1801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актуальность, цель, 9 задач</a:t>
            </a:r>
            <a:endParaRPr lang="en-US" sz="1200" dirty="0"/>
          </a:p>
        </p:txBody>
      </p:sp>
      <p:sp>
        <p:nvSpPr>
          <p:cNvPr id="6" name="Раздел Глава 1"/>
          <p:cNvSpPr/>
          <p:nvPr/>
        </p:nvSpPr>
        <p:spPr>
          <a:xfrm>
            <a:off x="3977640" y="1325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78808" y="1444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Глава 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178808" y="1801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предметная область, аналоги, выбор технологий</a:t>
            </a:r>
            <a:endParaRPr lang="en-US" sz="1200" dirty="0"/>
          </a:p>
        </p:txBody>
      </p:sp>
      <p:sp>
        <p:nvSpPr>
          <p:cNvPr id="9" name="Раздел Глава 2"/>
          <p:cNvSpPr/>
          <p:nvPr/>
        </p:nvSpPr>
        <p:spPr>
          <a:xfrm>
            <a:off x="548640" y="2468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49808" y="2587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Глава 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944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архитектура, база и API сервера, алгоритм, экраны, тесты</a:t>
            </a:r>
            <a:endParaRPr lang="en-US" sz="1200" dirty="0"/>
          </a:p>
        </p:txBody>
      </p:sp>
      <p:sp>
        <p:nvSpPr>
          <p:cNvPr id="12" name="Раздел Заключение"/>
          <p:cNvSpPr/>
          <p:nvPr/>
        </p:nvSpPr>
        <p:spPr>
          <a:xfrm>
            <a:off x="3977640" y="2468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178808" y="2587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Заключение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178808" y="2944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результаты по каждой задаче</a:t>
            </a:r>
            <a:endParaRPr lang="en-US" sz="1200" dirty="0"/>
          </a:p>
        </p:txBody>
      </p:sp>
      <p:sp>
        <p:nvSpPr>
          <p:cNvPr id="15" name="Раздел Литература"/>
          <p:cNvSpPr/>
          <p:nvPr/>
        </p:nvSpPr>
        <p:spPr>
          <a:xfrm>
            <a:off x="548640" y="3611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730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Литература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087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50 источников по ГОСТ</a:t>
            </a:r>
            <a:endParaRPr lang="en-US" sz="1200" dirty="0"/>
          </a:p>
        </p:txBody>
      </p:sp>
      <p:sp>
        <p:nvSpPr>
          <p:cNvPr id="18" name="Раздел Приложения А–Л"/>
          <p:cNvSpPr/>
          <p:nvPr/>
        </p:nvSpPr>
        <p:spPr>
          <a:xfrm>
            <a:off x="3977640" y="3611880"/>
            <a:ext cx="3246120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178808" y="373075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Приложения А–Л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178808" y="40873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код алгоритма, сервера и клиента API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463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105 страниц</a:t>
            </a:r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 · Times New Roman 14, интервал 1,5 · DOCX и PDF</a:t>
            </a:r>
            <a:endParaRPr lang="en-US" sz="1400" dirty="0"/>
          </a:p>
        </p:txBody>
      </p:sp>
      <p:sp>
        <p:nvSpPr>
          <p:cNvPr id="22" name="Релиз"/>
          <p:cNvSpPr/>
          <p:nvPr/>
        </p:nvSpPr>
        <p:spPr>
          <a:xfrm>
            <a:off x="7589520" y="1325880"/>
            <a:ext cx="4050792" cy="4526280"/>
          </a:xfrm>
          <a:prstGeom prst="roundRect">
            <a:avLst>
              <a:gd name="adj" fmla="val 2709"/>
            </a:avLst>
          </a:prstGeom>
          <a:solidFill>
            <a:schemeClr val="tx2"/>
          </a:solidFill>
          <a:ln/>
        </p:spPr>
      </p:sp>
      <p:pic>
        <p:nvPicPr>
          <p:cNvPr id="23" name="Иконка" descr="Иконка «Маршрут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00200"/>
            <a:ext cx="822960" cy="8229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88696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Релиз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2697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flutter build apk --release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GitHub Actions собирает APK для Android, IPA для iPhone, Windows и сервер API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iPhone: установка через Sideloadly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облака и ключей: сервер на своём ноутбуке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Итоги</a:t>
            </a:r>
            <a:endParaRPr lang="en-US" sz="4000" dirty="0"/>
          </a:p>
        </p:txBody>
      </p:sp>
      <p:sp>
        <p:nvSpPr>
          <p:cNvPr id="3" name="Номер 1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417320" y="16916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Приложение строит персональный план по графу тем, тесту, времени и дедлайну</a:t>
            </a:r>
            <a:endParaRPr lang="en-US" sz="1700" dirty="0"/>
          </a:p>
        </p:txBody>
      </p:sp>
      <p:sp>
        <p:nvSpPr>
          <p:cNvPr id="5" name="Номер 2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25603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Клиент-сервер: приложение Flutter и свой сервер API на Dart с SQLite</a:t>
            </a:r>
            <a:endParaRPr lang="en-US" sz="1700" dirty="0"/>
          </a:p>
        </p:txBody>
      </p:sp>
      <p:sp>
        <p:nvSpPr>
          <p:cNvPr id="7" name="Номер 3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4290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Полный сценарий, CRUD, перепланирование, Pomodoro, статистика, уведомления</a:t>
            </a:r>
            <a:endParaRPr lang="en-US" sz="1700" dirty="0"/>
          </a:p>
        </p:txBody>
      </p:sp>
      <p:sp>
        <p:nvSpPr>
          <p:cNvPr id="9" name="Номер 4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429768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137 тестов, CI и сборки для Android, iPhone и Windows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394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Спасибо за внимание! Готов ответить на вопросы</a:t>
            </a:r>
            <a:endParaRPr lang="en-US" sz="2200" dirty="0"/>
          </a:p>
        </p:txBody>
      </p:sp>
      <p:pic>
        <p:nvPicPr>
          <p:cNvPr id="12" name="Скриншот 09_stats" descr="09_sta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685800"/>
            <a:ext cx="2610833" cy="5486400"/>
          </a:xfrm>
          <a:prstGeom prst="rect">
            <a:avLst/>
          </a:prstGeom>
        </p:spPr>
      </p:pic>
      <p:pic>
        <p:nvPicPr>
          <p:cNvPr id="13" name="Скриншот 12_pomodoro" descr="12_pomodor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1280160"/>
            <a:ext cx="2284479" cy="4800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Маршрут">
  <a:themeElements>
    <a:clrScheme name="Маршрут">
      <a:dk1>
        <a:srgbClr val="0F1D3D"/>
      </a:dk1>
      <a:lt1>
        <a:srgbClr val="FFFFFF"/>
      </a:lt1>
      <a:dk2>
        <a:srgbClr val="1A3A8F"/>
      </a:dk2>
      <a:lt2>
        <a:srgbClr val="EEF2FB"/>
      </a:lt2>
      <a:accent1>
        <a:srgbClr val="F57C00"/>
      </a:accent1>
      <a:accent2>
        <a:srgbClr val="1A3A8F"/>
      </a:accent2>
      <a:accent3>
        <a:srgbClr val="2E9D5B"/>
      </a:accent3>
      <a:accent4>
        <a:srgbClr val="FFA040"/>
      </a:accent4>
      <a:accent5>
        <a:srgbClr val="9DB4FF"/>
      </a:accent5>
      <a:accent6>
        <a:srgbClr val="5A6B8C"/>
      </a:accent6>
      <a:hlink>
        <a:srgbClr val="1A3A8F"/>
      </a:hlink>
      <a:folHlink>
        <a:srgbClr val="5A6B8C"/>
      </a:folHlink>
    </a:clrScheme>
    <a:fontScheme name="Маршрут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Группа ПО2410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Маршрут — итоговая защита курсового проекта</dc:title>
  <dc:subject>PptxGenJS Presentation</dc:subject>
  <dc:creator>Баринов Николай Владимирович</dc:creator>
  <cp:lastModifiedBy>Баринов Николай Владимирович</cp:lastModifiedBy>
  <cp:revision>1</cp:revision>
  <dcterms:created xsi:type="dcterms:W3CDTF">2026-10-15T06:27:01Z</dcterms:created>
  <dcterms:modified xsi:type="dcterms:W3CDTF">2026-10-15T06:27:01Z</dcterms:modified>
</cp:coreProperties>
</file>