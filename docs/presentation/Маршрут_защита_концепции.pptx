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Тема" id="{6f4a99a9-42ce-edc6-f98c-90a0ee001fa9}">
          <p14:sldIdLst>
            <p14:sldId id="256"/>
            <p14:sldId id="257"/>
            <p14:sldId id="258"/>
          </p14:sldIdLst>
        </p14:section>
        <p14:section name="Стек и архитектура" id="{416ce785-ace7-5f01-326b-310b64399226}">
          <p14:sldIdLst>
            <p14:sldId id="259"/>
            <p14:sldId id="260"/>
          </p14:sldIdLst>
        </p14:section>
        <p14:section name="UI/UX и roadmap" id="{80f95a5a-4f72-8b39-fa9b-11ce703821ae}">
          <p14:sldIdLst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Меня зовут Баринов Николай, группа ПО2410. Моя тема — создание приложения для автоматического формирования персонального плана обучения. Приложение называется «Маршрут», оно разрабатывается на Flutter и Dart. Руководитель — Синтиков Еркебулан Канатович.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Моя тема — создание приложения для автоматического формирования персонального плана обучения. Когда человек решает выучить, например, Flutter, он видит сотни статей и курсов, но не понимает, в каком порядке их проходить, сколько это займёт и успеет ли он к сроку. Готовые курсы не учитывают, что вы уже знаете и сколько у вас времени. А стоит пропустить пару дней, и расписание теряет смысл. Цель работы — приложение «Маршрут», которое само строит план по дням и перестраивает его при отставании. Целевая аудитория — студенты, самоучки и люди, которые меняют профессию. Сценарий простой: выбрал направление, прошёл тест, указал часы и дедлайн и получил план.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Я сравнил приложение с аналогами. roadmap.sh показывает схемы изучения технологий, но схема одна для всех и не превращается в расписание. Duolingo хорошо мотивирует ежедневной целью, но план задаёт сам сервис. Курсы на Stepik и Coursera идут в своём темпе. Планировщики вроде Notion или Todoist требуют расписывать всё вручную. «Маршрут» объединяет граф тем, учёт уровня через тест, расписание под ваше время и автоматическую перестройку, а данные хранит на собственном сервере API без облачных сервисов. (Перед защитой сверить таблицу с актуальными версиями сервисов.)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Система состоит из двух программ. Приложение на Flutter построено по Clean Architecture: экраны берут данные у провайдеров Riverpod, провайдеры вызывают PlanService и алгоритм в слое domain на чистом Dart, а данные получают через репозитории API. Все запросы идут через общий клиент ApiClient: он добавляет токен, ждёт ответ не дольше 10 секунд и превращает ошибки в понятные сообщения. Сервер API тоже написан на Dart, на библиотеке shelf. Он выбирает обработчик по адресу, проверяет токен, данные и то, что запись принадлежит этому пользователю, и только после этого работает с базой SQLite через drift. Приложение к базе напрямую не обращается: получение, добавление, изменение и удаление идут только через API. Riverpod выбран вместо BLoC и Provider: меньше шаблонного кода, легко подменять зависимости в тестах. Свой сервер вместо Firebase — нет облака, ключей и внешних сервисов, а данные связаны и требуют SQL. Слоистая архитектура себя оправдала: при переходе на сервер заменились только репозитории, алгоритм и экраны остались прежними.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часть работы — алгоритм в слое domain. Направление — это граф тем: нельзя изучать Riverpod, не зная асинхронности Dart. Сначала по тесту исключаются известные темы: верный ответ по теме означает, что известны и все темы, которые нужны до неё. Затем алгоритм Кана выполняет топологическую сортировку: каждая тема идёт после своих зависимостей. Если в данных случайно появится цикл, алгоритм его найдёт. Дальше темы раскладываются по выбранным дням с дневным лимитом, после каждой темы ставятся повторения через 1, 3 и 7 дней по кривой забывания Эббингауза. Если план не укладывается в дедлайн, приложение подбирает, сколько часов в неделю нужно. В каталоге 75 тем и 113 зависимостей, алгоритм покрыт юнит-тестами.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Интерфейс я проектировал от сценария пользователя. После заставки человек входит или регистрируется, проходит онбординг из трёх шагов — направление, тест, расписание — и попадает на главную, где видит прогресс и задачи на сегодня. Пять вкладок внизу ведут к плану, темам, статистике и профилю. Material 3 со светлой и тёмной темой в фирменных цветах: тёмно-синий создаёт спокойный фон, оранжевым выделены действия и прогресс. На широком экране вкладки переезжают в боковую панель. Кликабельный прототип открывается в браузере и показывает все ключевые экраны и переходы.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Работа разбита на этапы. Сегодня защищается концепция: тема, архитектура и прототип. В первом семестре реализуется обязательный сценарий — заставка, регистрация, вход, главная, навигация, профиль, выход — и генератор плана. Во втором семестре — сервер API, через который приложение получает и изменяет все данные, перепланирование, Pomodoro, несколько планов, поиск, уведомления и графики, затем тесты и сборки для Android и iPhone. Итог: «Маршрут» превращает хаотичное самообучение в понятный план по дням, а данные хранит на собственном сервере без облачных сервисов. Спасибо за внимание, готов ответить на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«Маршрут» · Баринов Николай Владимирович · ПО2410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Иконка приложения" descr="Иконка «Маршрут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914400" cy="914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783080" y="64008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Колледж Astana IT University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603504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Астана 2026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82880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ЗАЩИТА КОНЦЕПЦИИ КУРСОВОГО ПРОЕКТА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19456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</a:t>
            </a:r>
            <a:endParaRPr lang="en-US" sz="60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24612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5"/>
                </a:solidFill>
              </a:rPr>
              <a:t>Приложение для автоматического формирования персонального плана обучения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416052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ПМ07. Разработка мобильных приложений · Flutter и Dart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507492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Выполнил: </a:t>
            </a:r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Баринов Николай Владимирович, группа ПО2410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Руководитель: </a:t>
            </a:r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Синтиков Еркебулан Канатович</a:t>
            </a:r>
            <a:endParaRPr lang="en-US" sz="1500" dirty="0"/>
          </a:p>
        </p:txBody>
      </p:sp>
      <p:pic>
        <p:nvPicPr>
          <p:cNvPr id="10" name="Скриншот 05_home" descr="05_ho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685800"/>
            <a:ext cx="2610833" cy="5486400"/>
          </a:xfrm>
          <a:prstGeom prst="rect">
            <a:avLst/>
          </a:prstGeom>
        </p:spPr>
      </p:pic>
      <p:pic>
        <p:nvPicPr>
          <p:cNvPr id="11" name="Скриншот 19_preview" descr="19_preview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1280160"/>
            <a:ext cx="2284479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Проблема: учиться самому трудно без плана</a:t>
            </a:r>
            <a:endParaRPr lang="en-US" sz="3200" dirty="0"/>
          </a:p>
        </p:txBody>
      </p:sp>
      <p:sp>
        <p:nvSpPr>
          <p:cNvPr id="3" name="Проблема 1"/>
          <p:cNvSpPr/>
          <p:nvPr/>
        </p:nvSpPr>
        <p:spPr>
          <a:xfrm>
            <a:off x="548640" y="1371600"/>
            <a:ext cx="603504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4" name="Номер 1"/>
          <p:cNvSpPr/>
          <p:nvPr/>
        </p:nvSpPr>
        <p:spPr>
          <a:xfrm>
            <a:off x="777240" y="1673352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5544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Неясен порядок тем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938528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Темы зависят друг от друга: виджеты Flutter не понять без основ Dart.</a:t>
            </a:r>
            <a:endParaRPr lang="en-US" sz="1400" dirty="0"/>
          </a:p>
        </p:txBody>
      </p:sp>
      <p:sp>
        <p:nvSpPr>
          <p:cNvPr id="7" name="Проблема 2"/>
          <p:cNvSpPr/>
          <p:nvPr/>
        </p:nvSpPr>
        <p:spPr>
          <a:xfrm>
            <a:off x="548640" y="2834640"/>
            <a:ext cx="603504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8" name="Номер 2"/>
          <p:cNvSpPr/>
          <p:nvPr/>
        </p:nvSpPr>
        <p:spPr>
          <a:xfrm>
            <a:off x="777240" y="3136392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3017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Не учтены знания и время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3401568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Курсы дают один план для всех и свой темп, а не ваш.</a:t>
            </a:r>
            <a:endParaRPr lang="en-US" sz="1400" dirty="0"/>
          </a:p>
        </p:txBody>
      </p:sp>
      <p:sp>
        <p:nvSpPr>
          <p:cNvPr id="11" name="Проблема 3"/>
          <p:cNvSpPr/>
          <p:nvPr/>
        </p:nvSpPr>
        <p:spPr>
          <a:xfrm>
            <a:off x="548640" y="4297680"/>
            <a:ext cx="603504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12" name="Номер 3"/>
          <p:cNvSpPr/>
          <p:nvPr/>
        </p:nvSpPr>
        <p:spPr>
          <a:xfrm>
            <a:off x="777240" y="4599432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44805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План ломается при отставании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4864608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Пропустил пару дней, и расписание теряет смысл. Человек бросает учёбу.</a:t>
            </a:r>
            <a:endParaRPr lang="en-US" sz="1400" dirty="0"/>
          </a:p>
        </p:txBody>
      </p:sp>
      <p:sp>
        <p:nvSpPr>
          <p:cNvPr id="15" name="Цель"/>
          <p:cNvSpPr/>
          <p:nvPr/>
        </p:nvSpPr>
        <p:spPr>
          <a:xfrm>
            <a:off x="6949440" y="1371600"/>
            <a:ext cx="4690872" cy="4160520"/>
          </a:xfrm>
          <a:prstGeom prst="roundRect">
            <a:avLst>
              <a:gd name="adj" fmla="val 2637"/>
            </a:avLst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269480" y="1600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4"/>
                </a:solidFill>
              </a:rPr>
              <a:t>ЦЕЛЬ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269480" y="1920240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Приложение само строит план по дням с учётом знаний, времени и дедлайна и перестраивает его при отставании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269480" y="35204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4"/>
                </a:solidFill>
              </a:rPr>
              <a:t>ЦЕЛЕВАЯ АУДИТОРИЯ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269480" y="384048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Студенты колледжей и вузов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Самоучки: программирование, языки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Те, кто меняет профессию</a:t>
            </a:r>
            <a:endParaRPr lang="en-US" sz="1500" dirty="0"/>
          </a:p>
        </p:txBody>
      </p:sp>
      <p:sp>
        <p:nvSpPr>
          <p:cNvPr id="20" name="Метка Направление"/>
          <p:cNvSpPr/>
          <p:nvPr/>
        </p:nvSpPr>
        <p:spPr>
          <a:xfrm>
            <a:off x="548640" y="5760720"/>
            <a:ext cx="2377440" cy="411480"/>
          </a:xfrm>
          <a:prstGeom prst="roundRect">
            <a:avLst>
              <a:gd name="adj" fmla="val 44444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Направление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2944368" y="576072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22" name="Метка Тест"/>
          <p:cNvSpPr/>
          <p:nvPr/>
        </p:nvSpPr>
        <p:spPr>
          <a:xfrm>
            <a:off x="3355848" y="5760720"/>
            <a:ext cx="2377440" cy="411480"/>
          </a:xfrm>
          <a:prstGeom prst="roundRect">
            <a:avLst>
              <a:gd name="adj" fmla="val 44444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Тест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751576" y="576072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24" name="Метка Часы и дедлайн"/>
          <p:cNvSpPr/>
          <p:nvPr/>
        </p:nvSpPr>
        <p:spPr>
          <a:xfrm>
            <a:off x="6163056" y="5760720"/>
            <a:ext cx="2377440" cy="411480"/>
          </a:xfrm>
          <a:prstGeom prst="roundRect">
            <a:avLst>
              <a:gd name="adj" fmla="val 44444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Часы и дедлайн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558784" y="576072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26" name="Метка План по дням"/>
          <p:cNvSpPr/>
          <p:nvPr/>
        </p:nvSpPr>
        <p:spPr>
          <a:xfrm>
            <a:off x="8970264" y="5760720"/>
            <a:ext cx="2377440" cy="411480"/>
          </a:xfrm>
          <a:prstGeom prst="roundRect">
            <a:avLst>
              <a:gd name="adj" fmla="val 44444"/>
            </a:avLst>
          </a:prstGeom>
          <a:solidFill>
            <a:schemeClr val="accent1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План по дням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Аналоги не строят персональный маршрут</a:t>
            </a:r>
            <a:endParaRPr lang="en-US" sz="3200" dirty="0"/>
          </a:p>
        </p:txBody>
      </p:sp>
      <p:graphicFrame>
        <p:nvGraphicFramePr>
          <p:cNvPr id="4" name="Таблица аналогов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00200"/>
                <a:gridCol w="1600200"/>
                <a:gridCol w="1691640"/>
                <a:gridCol w="1691640"/>
                <a:gridCol w="1764792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Возможность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roadmap.sh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Duolingo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Stepik / Coursera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Notion / Todoist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Маршрут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Порядок тем по зависимостям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статичная схема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внутри курса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внутри курса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нет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автоматически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Учёт имеющихся знаний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нет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тест уровня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нет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нет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диагностический тест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План по дням под своё время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нет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ежедневная цель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дедлайны курса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вручную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да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Перестройка при отставании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нет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нет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нет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вручную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одной кнопкой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Где хранятся данные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облако сервиса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облако сервиса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облако сервиса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облако сервиса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свой сервер API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Вывод"/>
          <p:cNvSpPr/>
          <p:nvPr/>
        </p:nvSpPr>
        <p:spPr>
          <a:xfrm>
            <a:off x="548640" y="5029200"/>
            <a:ext cx="11091672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5029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Вывод: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аналоги дают материалы или задачник, но не план под конкретного человека с перестройкой при отставании.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Сравнение составлено по публичным описаниям сервисов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Архитектура: приложение и сервер API</a:t>
            </a:r>
            <a:endParaRPr lang="en-US" sz="3200" dirty="0"/>
          </a:p>
        </p:txBody>
      </p:sp>
      <p:sp>
        <p:nvSpPr>
          <p:cNvPr id="3" name="Приложение"/>
          <p:cNvSpPr/>
          <p:nvPr/>
        </p:nvSpPr>
        <p:spPr>
          <a:xfrm>
            <a:off x="548640" y="1280160"/>
            <a:ext cx="4572000" cy="315468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3898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Приложение</a:t>
            </a:r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  Flutter, телефон</a:t>
            </a:r>
            <a:endParaRPr lang="en-US" sz="1700" dirty="0"/>
          </a:p>
        </p:txBody>
      </p:sp>
      <p:sp>
        <p:nvSpPr>
          <p:cNvPr id="5" name="Метка Экраны Material 3"/>
          <p:cNvSpPr/>
          <p:nvPr/>
        </p:nvSpPr>
        <p:spPr>
          <a:xfrm>
            <a:off x="777240" y="1847088"/>
            <a:ext cx="4114800" cy="402336"/>
          </a:xfrm>
          <a:prstGeom prst="roundRect">
            <a:avLst>
              <a:gd name="adj" fmla="val 45455"/>
            </a:avLst>
          </a:prstGeom>
          <a:solidFill>
            <a:schemeClr val="bg1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Экраны Material 3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2651760" y="2231136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↓</a:t>
            </a:r>
            <a:endParaRPr lang="en-US" sz="900" dirty="0"/>
          </a:p>
        </p:txBody>
      </p:sp>
      <p:sp>
        <p:nvSpPr>
          <p:cNvPr id="7" name="Метка Провайдеры Riverpod"/>
          <p:cNvSpPr/>
          <p:nvPr/>
        </p:nvSpPr>
        <p:spPr>
          <a:xfrm>
            <a:off x="777240" y="2350008"/>
            <a:ext cx="4114800" cy="402336"/>
          </a:xfrm>
          <a:prstGeom prst="roundRect">
            <a:avLst>
              <a:gd name="adj" fmla="val 45455"/>
            </a:avLst>
          </a:prstGeom>
          <a:solidFill>
            <a:schemeClr val="bg1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Провайдеры Riverpod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2734056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↓</a:t>
            </a:r>
            <a:endParaRPr lang="en-US" sz="900" dirty="0"/>
          </a:p>
        </p:txBody>
      </p:sp>
      <p:sp>
        <p:nvSpPr>
          <p:cNvPr id="9" name="Метка PlanService и алгоритм · domain"/>
          <p:cNvSpPr/>
          <p:nvPr/>
        </p:nvSpPr>
        <p:spPr>
          <a:xfrm>
            <a:off x="777240" y="2852928"/>
            <a:ext cx="4114800" cy="402336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PlanService и алгоритм · domain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651760" y="3236976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↓</a:t>
            </a:r>
            <a:endParaRPr lang="en-US" sz="900" dirty="0"/>
          </a:p>
        </p:txBody>
      </p:sp>
      <p:sp>
        <p:nvSpPr>
          <p:cNvPr id="11" name="Метка Репозитории API"/>
          <p:cNvSpPr/>
          <p:nvPr/>
        </p:nvSpPr>
        <p:spPr>
          <a:xfrm>
            <a:off x="777240" y="3355848"/>
            <a:ext cx="4114800" cy="402336"/>
          </a:xfrm>
          <a:prstGeom prst="roundRect">
            <a:avLst>
              <a:gd name="adj" fmla="val 45455"/>
            </a:avLst>
          </a:prstGeom>
          <a:solidFill>
            <a:schemeClr val="bg1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Репозитории API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651760" y="3739896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↓</a:t>
            </a:r>
            <a:endParaRPr lang="en-US" sz="900" dirty="0"/>
          </a:p>
        </p:txBody>
      </p:sp>
      <p:sp>
        <p:nvSpPr>
          <p:cNvPr id="13" name="Метка ApiClient: токен, ожидание 10 с, ошибки"/>
          <p:cNvSpPr/>
          <p:nvPr/>
        </p:nvSpPr>
        <p:spPr>
          <a:xfrm>
            <a:off x="777240" y="3858768"/>
            <a:ext cx="4114800" cy="402336"/>
          </a:xfrm>
          <a:prstGeom prst="roundRect">
            <a:avLst>
              <a:gd name="adj" fmla="val 45455"/>
            </a:avLst>
          </a:prstGeom>
          <a:solidFill>
            <a:schemeClr val="bg1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ApiClient: токен, ожидание 10 с, ошибки</a:t>
            </a:r>
            <a:endParaRPr lang="en-US" sz="1300" dirty="0"/>
          </a:p>
        </p:txBody>
      </p:sp>
      <p:sp>
        <p:nvSpPr>
          <p:cNvPr id="14" name="Сервер"/>
          <p:cNvSpPr/>
          <p:nvPr/>
        </p:nvSpPr>
        <p:spPr>
          <a:xfrm>
            <a:off x="7068312" y="1280160"/>
            <a:ext cx="4572000" cy="315468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296912" y="13898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Сервер API</a:t>
            </a:r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  Dart, shelf, ноутбук</a:t>
            </a:r>
            <a:endParaRPr lang="en-US" sz="1700" dirty="0"/>
          </a:p>
        </p:txBody>
      </p:sp>
      <p:sp>
        <p:nvSpPr>
          <p:cNvPr id="16" name="Метка Маршруты shelf_router · 39 адресов"/>
          <p:cNvSpPr/>
          <p:nvPr/>
        </p:nvSpPr>
        <p:spPr>
          <a:xfrm>
            <a:off x="7296912" y="1847088"/>
            <a:ext cx="4114800" cy="402336"/>
          </a:xfrm>
          <a:prstGeom prst="roundRect">
            <a:avLst>
              <a:gd name="adj" fmla="val 45455"/>
            </a:avLst>
          </a:prstGeom>
          <a:solidFill>
            <a:schemeClr val="bg1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Маршруты shelf_router · 39 адресов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9171432" y="2231136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↓</a:t>
            </a:r>
            <a:endParaRPr lang="en-US" sz="900" dirty="0"/>
          </a:p>
        </p:txBody>
      </p:sp>
      <p:sp>
        <p:nvSpPr>
          <p:cNvPr id="18" name="Метка Проверка токена, данных и владельца"/>
          <p:cNvSpPr/>
          <p:nvPr/>
        </p:nvSpPr>
        <p:spPr>
          <a:xfrm>
            <a:off x="7296912" y="2350008"/>
            <a:ext cx="4114800" cy="402336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Проверка токена, данных и владельца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171432" y="2734056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↓</a:t>
            </a:r>
            <a:endParaRPr lang="en-US" sz="900" dirty="0"/>
          </a:p>
        </p:txBody>
      </p:sp>
      <p:sp>
        <p:nvSpPr>
          <p:cNvPr id="20" name="Метка Репозитории drift"/>
          <p:cNvSpPr/>
          <p:nvPr/>
        </p:nvSpPr>
        <p:spPr>
          <a:xfrm>
            <a:off x="7296912" y="2852928"/>
            <a:ext cx="4114800" cy="402336"/>
          </a:xfrm>
          <a:prstGeom prst="roundRect">
            <a:avLst>
              <a:gd name="adj" fmla="val 45455"/>
            </a:avLst>
          </a:prstGeom>
          <a:solidFill>
            <a:schemeClr val="bg1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Репозитории drift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171432" y="3236976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↓</a:t>
            </a:r>
            <a:endParaRPr lang="en-US" sz="900" dirty="0"/>
          </a:p>
        </p:txBody>
      </p:sp>
      <p:sp>
        <p:nvSpPr>
          <p:cNvPr id="22" name="Метка База SQLite · 9 таблиц"/>
          <p:cNvSpPr/>
          <p:nvPr/>
        </p:nvSpPr>
        <p:spPr>
          <a:xfrm>
            <a:off x="7296912" y="3355848"/>
            <a:ext cx="4114800" cy="402336"/>
          </a:xfrm>
          <a:prstGeom prst="roundRect">
            <a:avLst>
              <a:gd name="adj" fmla="val 45455"/>
            </a:avLst>
          </a:prstGeom>
          <a:solidFill>
            <a:schemeClr val="bg1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База SQLite · 9 таблиц</a:t>
            </a:r>
            <a:endParaRPr lang="en-US" sz="1300" dirty="0"/>
          </a:p>
        </p:txBody>
      </p:sp>
      <p:sp>
        <p:nvSpPr>
          <p:cNvPr id="23" name="Запрос"/>
          <p:cNvSpPr/>
          <p:nvPr/>
        </p:nvSpPr>
        <p:spPr>
          <a:xfrm>
            <a:off x="5257800" y="2514600"/>
            <a:ext cx="1673352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4" name="Ответ"/>
          <p:cNvSpPr/>
          <p:nvPr/>
        </p:nvSpPr>
        <p:spPr>
          <a:xfrm>
            <a:off x="5257800" y="3429000"/>
            <a:ext cx="1673352" cy="0"/>
          </a:xfrm>
          <a:prstGeom prst="line">
            <a:avLst/>
          </a:prstGeom>
          <a:noFill/>
          <a:ln w="31750">
            <a:solidFill>
              <a:schemeClr val="tx2"/>
            </a:solidFill>
            <a:prstDash val="solid"/>
            <a:headEnd type="triangle"/>
          </a:ln>
        </p:spPr>
      </p:sp>
      <p:sp>
        <p:nvSpPr>
          <p:cNvPr id="25" name="Text 23"/>
          <p:cNvSpPr txBox="1"/>
          <p:nvPr/>
        </p:nvSpPr>
        <p:spPr>
          <a:xfrm>
            <a:off x="5166360" y="1874520"/>
            <a:ext cx="1856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запрос HTTP + JSON, токен Bearer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166360" y="3520440"/>
            <a:ext cx="1856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ответ JSON, код 200 / 201 / 204 / 4xx</a:t>
            </a:r>
            <a:endParaRPr lang="en-US" sz="1200" dirty="0"/>
          </a:p>
        </p:txBody>
      </p:sp>
      <p:sp>
        <p:nvSpPr>
          <p:cNvPr id="27" name="Выбор Состояние"/>
          <p:cNvSpPr/>
          <p:nvPr/>
        </p:nvSpPr>
        <p:spPr>
          <a:xfrm>
            <a:off x="548640" y="4617720"/>
            <a:ext cx="2633472" cy="155448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 w="12700">
            <a:solidFill>
              <a:srgbClr val="D5DCE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1520" y="47274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Состояние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" y="50017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Riverpod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731520" y="539496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вместо BLoC и Provider: меньше кода, подмена в тестах</a:t>
            </a:r>
            <a:endParaRPr lang="en-US" sz="1200" dirty="0"/>
          </a:p>
        </p:txBody>
      </p:sp>
      <p:sp>
        <p:nvSpPr>
          <p:cNvPr id="31" name="Выбор Данные"/>
          <p:cNvSpPr/>
          <p:nvPr/>
        </p:nvSpPr>
        <p:spPr>
          <a:xfrm>
            <a:off x="3364992" y="4617720"/>
            <a:ext cx="2633472" cy="155448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 w="12700">
            <a:solidFill>
              <a:srgbClr val="D5DCE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547872" y="47274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Данные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3547872" y="50017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свой сервер API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3547872" y="539496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вместо Firebase: без облака и ключей, связи и SQL</a:t>
            </a:r>
            <a:endParaRPr lang="en-US" sz="1200" dirty="0"/>
          </a:p>
        </p:txBody>
      </p:sp>
      <p:sp>
        <p:nvSpPr>
          <p:cNvPr id="35" name="Выбор Навигация"/>
          <p:cNvSpPr/>
          <p:nvPr/>
        </p:nvSpPr>
        <p:spPr>
          <a:xfrm>
            <a:off x="6181344" y="4617720"/>
            <a:ext cx="2633472" cy="155448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 w="12700">
            <a:solidFill>
              <a:srgbClr val="D5DCE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64224" y="47274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Навигация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364224" y="50017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go_router</a:t>
            </a:r>
            <a:endParaRPr 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6364224" y="539496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redirect закрывает экраны без входа</a:t>
            </a:r>
            <a:endParaRPr lang="en-US" sz="1200" dirty="0"/>
          </a:p>
        </p:txBody>
      </p:sp>
      <p:sp>
        <p:nvSpPr>
          <p:cNvPr id="39" name="Выбор Вход"/>
          <p:cNvSpPr/>
          <p:nvPr/>
        </p:nvSpPr>
        <p:spPr>
          <a:xfrm>
            <a:off x="8997696" y="4617720"/>
            <a:ext cx="2633472" cy="155448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 w="12700">
            <a:solidFill>
              <a:srgbClr val="D5DCE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180576" y="47274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Вход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9180576" y="50017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PBKDF2 + токен</a:t>
            </a:r>
            <a:endParaRPr lang="en-US" sz="1700" dirty="0"/>
          </a:p>
        </p:txBody>
      </p:sp>
      <p:sp>
        <p:nvSpPr>
          <p:cNvPr id="42" name="Text 40"/>
          <p:cNvSpPr txBox="1"/>
          <p:nvPr/>
        </p:nvSpPr>
        <p:spPr>
          <a:xfrm>
            <a:off x="9180576" y="539496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вместо Firebase Auth: пароль только хэшем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Алгоритм: план из графа тем за пять шагов</a:t>
            </a:r>
            <a:endParaRPr lang="en-US" sz="3200" dirty="0"/>
          </a:p>
        </p:txBody>
      </p:sp>
      <p:sp>
        <p:nvSpPr>
          <p:cNvPr id="3" name="Связь шагов"/>
          <p:cNvSpPr/>
          <p:nvPr/>
        </p:nvSpPr>
        <p:spPr>
          <a:xfrm>
            <a:off x="1463040" y="1737360"/>
            <a:ext cx="8887968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</a:ln>
        </p:spPr>
      </p:sp>
      <p:sp>
        <p:nvSpPr>
          <p:cNvPr id="4" name="Номер 1"/>
          <p:cNvSpPr/>
          <p:nvPr/>
        </p:nvSpPr>
        <p:spPr>
          <a:xfrm>
            <a:off x="1097280" y="137160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384048" y="224028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Граф тем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Тема — вершина, ребро A → B: A нужно знать до B</a:t>
            </a:r>
            <a:endParaRPr lang="en-US" sz="1300" dirty="0"/>
          </a:p>
        </p:txBody>
      </p:sp>
      <p:sp>
        <p:nvSpPr>
          <p:cNvPr id="7" name="Номер 2"/>
          <p:cNvSpPr/>
          <p:nvPr/>
        </p:nvSpPr>
        <p:spPr>
          <a:xfrm>
            <a:off x="3319272" y="137160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2606040" y="224028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Исключить известное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679192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Верный ответ в тесте: тема и её предшественники изучены</a:t>
            </a:r>
            <a:endParaRPr lang="en-US" sz="1300" dirty="0"/>
          </a:p>
        </p:txBody>
      </p:sp>
      <p:sp>
        <p:nvSpPr>
          <p:cNvPr id="10" name="Номер 3"/>
          <p:cNvSpPr/>
          <p:nvPr/>
        </p:nvSpPr>
        <p:spPr>
          <a:xfrm>
            <a:off x="5541264" y="13716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828032" y="224028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Алгоритм Кана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901184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Топологическая сортировка, при равенстве — по сложности. Цикл обнаруживается</a:t>
            </a:r>
            <a:endParaRPr lang="en-US" sz="1300" dirty="0"/>
          </a:p>
        </p:txBody>
      </p:sp>
      <p:sp>
        <p:nvSpPr>
          <p:cNvPr id="13" name="Номер 4"/>
          <p:cNvSpPr/>
          <p:nvPr/>
        </p:nvSpPr>
        <p:spPr>
          <a:xfrm>
            <a:off x="7763256" y="137160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050024" y="224028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Раскладка по дням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123176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Лимит в день = часы в неделю / учебные дни, части от 30 минут</a:t>
            </a:r>
            <a:endParaRPr lang="en-US" sz="1300" dirty="0"/>
          </a:p>
        </p:txBody>
      </p:sp>
      <p:sp>
        <p:nvSpPr>
          <p:cNvPr id="16" name="Номер 5"/>
          <p:cNvSpPr/>
          <p:nvPr/>
        </p:nvSpPr>
        <p:spPr>
          <a:xfrm>
            <a:off x="9985248" y="137160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9272016" y="224028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Срок и повторения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345168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Повторения через 1, 3, 7 дней. Не успеваем — подбираем часы</a:t>
            </a:r>
            <a:endParaRPr lang="en-US" sz="1300" dirty="0"/>
          </a:p>
        </p:txBody>
      </p:sp>
      <p:sp>
        <p:nvSpPr>
          <p:cNvPr id="19" name="Факт тем в 4 направлениях"/>
          <p:cNvSpPr/>
          <p:nvPr/>
        </p:nvSpPr>
        <p:spPr>
          <a:xfrm>
            <a:off x="548640" y="4114800"/>
            <a:ext cx="260604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42976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75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5120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тем в 4 направлениях</a:t>
            </a:r>
            <a:endParaRPr lang="en-US" sz="1400" dirty="0"/>
          </a:p>
        </p:txBody>
      </p:sp>
      <p:sp>
        <p:nvSpPr>
          <p:cNvPr id="22" name="Факт зависимостей между темами"/>
          <p:cNvSpPr/>
          <p:nvPr/>
        </p:nvSpPr>
        <p:spPr>
          <a:xfrm>
            <a:off x="3364992" y="4114800"/>
            <a:ext cx="260604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593592" y="42976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113</a:t>
            </a:r>
            <a:endParaRPr lang="en-US" sz="4000" dirty="0"/>
          </a:p>
        </p:txBody>
      </p:sp>
      <p:sp>
        <p:nvSpPr>
          <p:cNvPr id="24" name="Text 22"/>
          <p:cNvSpPr txBox="1"/>
          <p:nvPr/>
        </p:nvSpPr>
        <p:spPr>
          <a:xfrm>
            <a:off x="3593592" y="5120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зависимостей между темами</a:t>
            </a:r>
            <a:endParaRPr lang="en-US" sz="1400" dirty="0"/>
          </a:p>
        </p:txBody>
      </p:sp>
      <p:sp>
        <p:nvSpPr>
          <p:cNvPr id="25" name="Факт дней до повторений"/>
          <p:cNvSpPr/>
          <p:nvPr/>
        </p:nvSpPr>
        <p:spPr>
          <a:xfrm>
            <a:off x="6181344" y="4114800"/>
            <a:ext cx="260604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09944" y="42976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 · 3 · 7</a:t>
            </a:r>
            <a:endParaRPr lang="en-US" sz="4000" dirty="0"/>
          </a:p>
        </p:txBody>
      </p:sp>
      <p:sp>
        <p:nvSpPr>
          <p:cNvPr id="27" name="Text 25"/>
          <p:cNvSpPr txBox="1"/>
          <p:nvPr/>
        </p:nvSpPr>
        <p:spPr>
          <a:xfrm>
            <a:off x="6409944" y="5120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дней до повторений</a:t>
            </a:r>
            <a:endParaRPr lang="en-US" sz="1400" dirty="0"/>
          </a:p>
        </p:txBody>
      </p:sp>
      <p:sp>
        <p:nvSpPr>
          <p:cNvPr id="28" name="Факт юнит-теста алгоритма"/>
          <p:cNvSpPr/>
          <p:nvPr/>
        </p:nvSpPr>
        <p:spPr>
          <a:xfrm>
            <a:off x="8997696" y="4114800"/>
            <a:ext cx="260604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226296" y="42976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32</a:t>
            </a:r>
            <a:endParaRPr lang="en-US" sz="4000" dirty="0"/>
          </a:p>
        </p:txBody>
      </p:sp>
      <p:sp>
        <p:nvSpPr>
          <p:cNvPr id="30" name="Text 28"/>
          <p:cNvSpPr txBox="1"/>
          <p:nvPr/>
        </p:nvSpPr>
        <p:spPr>
          <a:xfrm>
            <a:off x="9226296" y="5120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юнит-теста алгоритма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UI/UX: от сценария пользователя к экранам</a:t>
            </a:r>
            <a:endParaRPr lang="en-US" sz="3200" dirty="0"/>
          </a:p>
        </p:txBody>
      </p:sp>
      <p:sp>
        <p:nvSpPr>
          <p:cNvPr id="3" name="Метка Splash"/>
          <p:cNvSpPr/>
          <p:nvPr/>
        </p:nvSpPr>
        <p:spPr>
          <a:xfrm>
            <a:off x="548640" y="1280160"/>
            <a:ext cx="1005840" cy="384048"/>
          </a:xfrm>
          <a:prstGeom prst="roundRect">
            <a:avLst>
              <a:gd name="adj" fmla="val 47619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Splash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128016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</a:t>
            </a:r>
            <a:endParaRPr lang="en-US" sz="1400" dirty="0"/>
          </a:p>
        </p:txBody>
      </p:sp>
      <p:sp>
        <p:nvSpPr>
          <p:cNvPr id="5" name="Метка Вход"/>
          <p:cNvSpPr/>
          <p:nvPr/>
        </p:nvSpPr>
        <p:spPr>
          <a:xfrm>
            <a:off x="1920240" y="1280160"/>
            <a:ext cx="822960" cy="384048"/>
          </a:xfrm>
          <a:prstGeom prst="roundRect">
            <a:avLst>
              <a:gd name="adj" fmla="val 47619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Вход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128016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</a:t>
            </a:r>
            <a:endParaRPr lang="en-US" sz="1400" dirty="0"/>
          </a:p>
        </p:txBody>
      </p:sp>
      <p:sp>
        <p:nvSpPr>
          <p:cNvPr id="7" name="Метка Направление"/>
          <p:cNvSpPr/>
          <p:nvPr/>
        </p:nvSpPr>
        <p:spPr>
          <a:xfrm>
            <a:off x="3108960" y="1280160"/>
            <a:ext cx="1371600" cy="384048"/>
          </a:xfrm>
          <a:prstGeom prst="roundRect">
            <a:avLst>
              <a:gd name="adj" fmla="val 47619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Направление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480560" y="128016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</a:t>
            </a:r>
            <a:endParaRPr lang="en-US" sz="1400" dirty="0"/>
          </a:p>
        </p:txBody>
      </p:sp>
      <p:sp>
        <p:nvSpPr>
          <p:cNvPr id="9" name="Метка Тест"/>
          <p:cNvSpPr/>
          <p:nvPr/>
        </p:nvSpPr>
        <p:spPr>
          <a:xfrm>
            <a:off x="4846320" y="1280160"/>
            <a:ext cx="822960" cy="384048"/>
          </a:xfrm>
          <a:prstGeom prst="roundRect">
            <a:avLst>
              <a:gd name="adj" fmla="val 47619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Тест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669280" y="128016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</a:t>
            </a:r>
            <a:endParaRPr lang="en-US" sz="1400" dirty="0"/>
          </a:p>
        </p:txBody>
      </p:sp>
      <p:sp>
        <p:nvSpPr>
          <p:cNvPr id="11" name="Метка Расписание"/>
          <p:cNvSpPr/>
          <p:nvPr/>
        </p:nvSpPr>
        <p:spPr>
          <a:xfrm>
            <a:off x="6035040" y="1280160"/>
            <a:ext cx="1325880" cy="384048"/>
          </a:xfrm>
          <a:prstGeom prst="roundRect">
            <a:avLst>
              <a:gd name="adj" fmla="val 47619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Расписание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360920" y="128016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</a:t>
            </a:r>
            <a:endParaRPr lang="en-US" sz="1400" dirty="0"/>
          </a:p>
        </p:txBody>
      </p:sp>
      <p:sp>
        <p:nvSpPr>
          <p:cNvPr id="13" name="Метка Главная"/>
          <p:cNvSpPr/>
          <p:nvPr/>
        </p:nvSpPr>
        <p:spPr>
          <a:xfrm>
            <a:off x="7726680" y="1280160"/>
            <a:ext cx="105156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Главная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869680" y="1280160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⇄ План, Темы, Статистика, Профиль</a:t>
            </a:r>
            <a:endParaRPr lang="en-US" sz="1300" dirty="0"/>
          </a:p>
        </p:txBody>
      </p:sp>
      <p:pic>
        <p:nvPicPr>
          <p:cNvPr id="15" name="Скриншот 05_home" descr="Главна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65960"/>
            <a:ext cx="1936368" cy="406908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365760" y="6126480"/>
            <a:ext cx="2302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Главная</a:t>
            </a:r>
            <a:endParaRPr lang="en-US" sz="1200" dirty="0"/>
          </a:p>
        </p:txBody>
      </p:sp>
      <p:pic>
        <p:nvPicPr>
          <p:cNvPr id="17" name="Скриншот 06_plan" descr="План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9328" y="1965960"/>
            <a:ext cx="1936368" cy="406908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2576448" y="6126480"/>
            <a:ext cx="2302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План</a:t>
            </a:r>
            <a:endParaRPr lang="en-US" sz="1200" dirty="0"/>
          </a:p>
        </p:txBody>
      </p:sp>
      <p:pic>
        <p:nvPicPr>
          <p:cNvPr id="19" name="Скриншот 20_home_dark" descr="Тёмная тем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0015" y="1965960"/>
            <a:ext cx="1936368" cy="406908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787135" y="6126480"/>
            <a:ext cx="2302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Тёмная тема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7363583" y="1965960"/>
            <a:ext cx="4276729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Material 3, светлая и тёмная тема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Тёмно-синий #1A3A8F — спокойный фон, оранжевый #F57C00 — действия и прогресс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5 вкладок внизу: всё главное в один тап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На главной только то, что нужно сегодня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Ошибки под каждым полем, пустые состояния с подсказкой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Адаптивность: боковая панель на широком экране, поворот экрана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7363583" y="5715000"/>
            <a:ext cx="427672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Кликабельный прототип: docs/concept/wireframes.html, user flow: docs/concept/user_flow.md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Roadmap: от концепции к релизу</a:t>
            </a:r>
            <a:endParaRPr lang="en-US" sz="3200" dirty="0"/>
          </a:p>
        </p:txBody>
      </p:sp>
      <p:sp>
        <p:nvSpPr>
          <p:cNvPr id="3" name="Линия времени"/>
          <p:cNvSpPr/>
          <p:nvPr/>
        </p:nvSpPr>
        <p:spPr>
          <a:xfrm>
            <a:off x="1463040" y="1828800"/>
            <a:ext cx="8887968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</a:ln>
        </p:spPr>
      </p:sp>
      <p:sp>
        <p:nvSpPr>
          <p:cNvPr id="4" name="Номер 0"/>
          <p:cNvSpPr/>
          <p:nvPr/>
        </p:nvSpPr>
        <p:spPr>
          <a:xfrm>
            <a:off x="1097280" y="14630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377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ЭТАП 0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6974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Концепция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10896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Тема, аналоги, архитектура, прототип</a:t>
            </a:r>
            <a:endParaRPr lang="en-US" sz="1300" dirty="0"/>
          </a:p>
        </p:txBody>
      </p:sp>
      <p:sp>
        <p:nvSpPr>
          <p:cNvPr id="8" name="Номер 1"/>
          <p:cNvSpPr/>
          <p:nvPr/>
        </p:nvSpPr>
        <p:spPr>
          <a:xfrm>
            <a:off x="3319272" y="146304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679192" y="2377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СЕМЕСТР 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679192" y="26974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Авторизация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2679192" y="310896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Splash, регистрация, вход, навигация, профиль, выход</a:t>
            </a:r>
            <a:endParaRPr lang="en-US" sz="1300" dirty="0"/>
          </a:p>
        </p:txBody>
      </p:sp>
      <p:sp>
        <p:nvSpPr>
          <p:cNvPr id="12" name="Номер 2"/>
          <p:cNvSpPr/>
          <p:nvPr/>
        </p:nvSpPr>
        <p:spPr>
          <a:xfrm>
            <a:off x="5541264" y="146304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901184" y="2377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СЕМЕСТР 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901184" y="26974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Основной раздел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901184" y="310896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Генератор плана, онбординг и тест, главная, введение и глава 1</a:t>
            </a:r>
            <a:endParaRPr lang="en-US" sz="1300" dirty="0"/>
          </a:p>
        </p:txBody>
      </p:sp>
      <p:sp>
        <p:nvSpPr>
          <p:cNvPr id="16" name="Номер 3"/>
          <p:cNvSpPr/>
          <p:nvPr/>
        </p:nvSpPr>
        <p:spPr>
          <a:xfrm>
            <a:off x="7763256" y="146304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123176" y="2377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СЕМЕСТР 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123176" y="26974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Полный функционал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123176" y="310896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Сервер API, CRUD через API, перепланирование, Pomodoro, графики</a:t>
            </a:r>
            <a:endParaRPr lang="en-US" sz="1300" dirty="0"/>
          </a:p>
        </p:txBody>
      </p:sp>
      <p:sp>
        <p:nvSpPr>
          <p:cNvPr id="20" name="Номер 4"/>
          <p:cNvSpPr/>
          <p:nvPr/>
        </p:nvSpPr>
        <p:spPr>
          <a:xfrm>
            <a:off x="9985248" y="146304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345168" y="2377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СЕМЕСТР 2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345168" y="26974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Релиз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9345168" y="310896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Тесты, APK и iPhone, практическая глава, итоговая защита</a:t>
            </a:r>
            <a:endParaRPr lang="en-US" sz="1300" dirty="0"/>
          </a:p>
        </p:txBody>
      </p:sp>
      <p:sp>
        <p:nvSpPr>
          <p:cNvPr id="24" name="Итог"/>
          <p:cNvSpPr/>
          <p:nvPr/>
        </p:nvSpPr>
        <p:spPr>
          <a:xfrm>
            <a:off x="548640" y="4617720"/>
            <a:ext cx="11091672" cy="118872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22960" y="461772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«Маршрут» превращает хаотичное самообучение в план по дням. </a:t>
            </a:r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Данные на своём сервере API, без облака и ключей. Спасибо за внимание!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Маршрут">
  <a:themeElements>
    <a:clrScheme name="Маршрут">
      <a:dk1>
        <a:srgbClr val="0F1D3D"/>
      </a:dk1>
      <a:lt1>
        <a:srgbClr val="FFFFFF"/>
      </a:lt1>
      <a:dk2>
        <a:srgbClr val="1A3A8F"/>
      </a:dk2>
      <a:lt2>
        <a:srgbClr val="EEF2FB"/>
      </a:lt2>
      <a:accent1>
        <a:srgbClr val="F57C00"/>
      </a:accent1>
      <a:accent2>
        <a:srgbClr val="1A3A8F"/>
      </a:accent2>
      <a:accent3>
        <a:srgbClr val="2E9D5B"/>
      </a:accent3>
      <a:accent4>
        <a:srgbClr val="FFA040"/>
      </a:accent4>
      <a:accent5>
        <a:srgbClr val="9DB4FF"/>
      </a:accent5>
      <a:accent6>
        <a:srgbClr val="5A6B8C"/>
      </a:accent6>
      <a:hlink>
        <a:srgbClr val="1A3A8F"/>
      </a:hlink>
      <a:folHlink>
        <a:srgbClr val="5A6B8C"/>
      </a:folHlink>
    </a:clrScheme>
    <a:fontScheme name="Маршрут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Группа ПО2410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Маршрут — защита концепции</dc:title>
  <dc:subject>PptxGenJS Presentation</dc:subject>
  <dc:creator>Баринов Николай Владимирович</dc:creator>
  <cp:lastModifiedBy>Баринов Николай Владимирович</cp:lastModifiedBy>
  <cp:revision>1</cp:revision>
  <dcterms:created xsi:type="dcterms:W3CDTF">2026-10-15T06:27:01Z</dcterms:created>
  <dcterms:modified xsi:type="dcterms:W3CDTF">2026-10-15T06:27:01Z</dcterms:modified>
</cp:coreProperties>
</file>