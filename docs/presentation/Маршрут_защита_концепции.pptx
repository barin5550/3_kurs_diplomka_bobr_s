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ема" id="{cc9e046d-3d58-86c2-ffa2-3aec92699af2}">
          <p14:sldIdLst>
            <p14:sldId id="256"/>
            <p14:sldId id="257"/>
            <p14:sldId id="258"/>
          </p14:sldIdLst>
        </p14:section>
        <p14:section name="Стек и архитектура" id="{7fb72313-0f6c-af6b-ad81-5d401a31d9d6}">
          <p14:sldIdLst>
            <p14:sldId id="259"/>
            <p14:sldId id="260"/>
          </p14:sldIdLst>
        </p14:section>
        <p14:section name="UI/UX и roadmap" id="{750fc151-b60a-759a-7ddd-ceee55efccb7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Меня зовут Баринов Николай, группа ПО2410. Моя тема — создание приложения для автоматического формирования персонального плана обучения. Приложение называется «Маршрут», оно разрабатывается на Flutter и Dart. Руководитель — Синтиков Еркебулан Канатович.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Моя тема — создание приложения для автоматического формирования персонального плана обучения. Когда человек решает выучить, например, Flutter, он видит сотни статей и курсов, но не понимает, в каком порядке их проходить, сколько это займёт и успеет ли он к сроку. Готовые курсы не учитывают, что вы уже знаете и сколько у вас времени. А стоит пропустить пару дней, и расписание теряет смысл. Цель работы — приложение «Маршрут», которое само строит план по дням и перестраивает его при отставании. Целевая аудитория — студенты, самоучки и люди, которые меняют профессию. Сценарий простой: выбрал направление, прошёл тест, указал часы и дедлайн и получил план.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сравнил приложение с аналогами. roadmap.sh показывает схемы изучения технологий, но схема одна для всех и не превращается в расписание. Duolingo хорошо мотивирует ежедневной целью, но план задаёт сам сервис. Курсы на Stepik и Coursera идут в своём темпе. Планировщики вроде Notion или Todoist требуют расписывать всё вручную. «Маршрут» объединяет граф тем, учёт уровня через тест, расписание под ваше время и автоматическую перестройку, и работает без интернета. (Перед защитой сверить таблицу с актуальными версиями сервисов.)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построена по Clean Architecture и разделена на три слоя. Domain написан на чистом Dart и не знает о Flutter: здесь сущности и главный алгоритм, поэтому его легко тестировать. Data отвечает за хранение: SQLite через drift, каталог тем в JSON и настройки. Presentation — экраны и провайдеры Riverpod. Riverpod выбран вместо BLoC, потому что требует меньше шаблонного кода, и вместо Provider, потому что не зависит от BuildContext и легко подменяется в тестах. drift выбран, потому что данные связаны: у пользователя планы, у плана занятия. Hive хранит пары ключ-значение без связей, а Firebase требует облака и интернета. go_router с redirect не пускает на закрытые экраны без входа.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часть работы — алгоритм в слое domain. Направление — это граф тем: нельзя изучать Riverpod, не зная асинхронности Dart. Сначала по тесту исключаются известные темы: верный ответ по теме означает, что известны и все темы, которые нужны до неё. Затем алгоритм Кана выполняет топологическую сортировку: каждая тема идёт после своих зависимостей. Если в данных случайно появится цикл, алгоритм его найдёт. Дальше темы раскладываются по выбранным дням с дневным лимитом, после каждой темы ставятся повторения через 1, 3 и 7 дней по кривой забывания Эббингауза. Если план не укладывается в дедлайн, приложение подбирает, сколько часов в неделю нужно. В каталоге 75 тем и 113 зависимостей, алгоритм покрыт юнит-тестами.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Интерфейс я проектировал от сценария пользователя. После заставки человек входит или регистрируется, проходит онбординг из трёх шагов — направление, тест, расписание — и попадает на главную, где видит прогресс и задачи на сегодня. Пять вкладок внизу ведут к плану, темам, статистике и профилю. Material 3 со светлой и тёмной темой в фирменных цветах: тёмно-синий создаёт спокойный фон, оранжевым выделены действия и прогресс. На широком экране вкладки переезжают в боковую панель. Кликабельный прототип открывается в браузере и показывает все ключевые экраны и переходы.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Работа разбита на этапы. Сегодня защищается концепция: тема, архитектура и прототип. В первом семестре реализуется обязательный сценарий — заставка, регистрация, вход, главная, навигация, профиль, выход — и генератор плана. Во втором семестре — перепланирование, Pomodoro, несколько планов, CRUD, поиск, уведомления и графики, затем тесты и релизный APK. Итог: «Маршрут» превращает хаотичное самообучение в понятный план по дням, работает офлайн и запускается одной командой. Спасибо за внимание,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«Маршрут» · Баринов Николай Владимирович · ПО2410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Иконка приложения" descr="Иконка «Маршрут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83080" y="6400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Колледж Astana IT University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0350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Астана 2026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8288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ЗАЩИТА КОНЦЕПЦИИ КУРСОВОГО ПРОЕКТА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9456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2461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Приложение для автоматического формирования персонального плана обучения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1605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ПМ07. Разработка мобильных приложений · Flutter и Dart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0749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Выполнил: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Баринов Николай Владимирович, группа ПО2410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Руководитель: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Синтиков Еркебулан Канатович</a:t>
            </a:r>
            <a:endParaRPr lang="en-US" sz="1500" dirty="0"/>
          </a:p>
        </p:txBody>
      </p:sp>
      <p:pic>
        <p:nvPicPr>
          <p:cNvPr id="10" name="Скриншот 05_home" descr="05_ho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85800"/>
            <a:ext cx="2610833" cy="5486400"/>
          </a:xfrm>
          <a:prstGeom prst="rect">
            <a:avLst/>
          </a:prstGeom>
        </p:spPr>
      </p:pic>
      <p:pic>
        <p:nvPicPr>
          <p:cNvPr id="11" name="Скриншот 19_preview" descr="19_previe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1280160"/>
            <a:ext cx="2284479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Проблема: учиться самому трудно без плана</a:t>
            </a:r>
            <a:endParaRPr lang="en-US" sz="3200" dirty="0"/>
          </a:p>
        </p:txBody>
      </p:sp>
      <p:sp>
        <p:nvSpPr>
          <p:cNvPr id="3" name="Проблема 1"/>
          <p:cNvSpPr/>
          <p:nvPr/>
        </p:nvSpPr>
        <p:spPr>
          <a:xfrm>
            <a:off x="548640" y="1371600"/>
            <a:ext cx="6035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4" name="Номер 1"/>
          <p:cNvSpPr/>
          <p:nvPr/>
        </p:nvSpPr>
        <p:spPr>
          <a:xfrm>
            <a:off x="777240" y="1673352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554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Неясен порядок тем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93852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Темы зависят друг от друга: виджеты Flutter не понять без основ Dart.</a:t>
            </a:r>
            <a:endParaRPr lang="en-US" sz="1400" dirty="0"/>
          </a:p>
        </p:txBody>
      </p:sp>
      <p:sp>
        <p:nvSpPr>
          <p:cNvPr id="7" name="Проблема 2"/>
          <p:cNvSpPr/>
          <p:nvPr/>
        </p:nvSpPr>
        <p:spPr>
          <a:xfrm>
            <a:off x="548640" y="2834640"/>
            <a:ext cx="6035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8" name="Номер 2"/>
          <p:cNvSpPr/>
          <p:nvPr/>
        </p:nvSpPr>
        <p:spPr>
          <a:xfrm>
            <a:off x="777240" y="3136392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017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Не учтены знания и время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40156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Курсы дают один план для всех и свой темп, а не ваш.</a:t>
            </a:r>
            <a:endParaRPr lang="en-US" sz="1400" dirty="0"/>
          </a:p>
        </p:txBody>
      </p:sp>
      <p:sp>
        <p:nvSpPr>
          <p:cNvPr id="11" name="Проблема 3"/>
          <p:cNvSpPr/>
          <p:nvPr/>
        </p:nvSpPr>
        <p:spPr>
          <a:xfrm>
            <a:off x="548640" y="4297680"/>
            <a:ext cx="6035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2" name="Номер 3"/>
          <p:cNvSpPr/>
          <p:nvPr/>
        </p:nvSpPr>
        <p:spPr>
          <a:xfrm>
            <a:off x="777240" y="4599432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480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План ломается при отставании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86460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Пропустил пару дней, и расписание теряет смысл. Человек бросает учёбу.</a:t>
            </a:r>
            <a:endParaRPr lang="en-US" sz="1400" dirty="0"/>
          </a:p>
        </p:txBody>
      </p:sp>
      <p:sp>
        <p:nvSpPr>
          <p:cNvPr id="15" name="Цель"/>
          <p:cNvSpPr/>
          <p:nvPr/>
        </p:nvSpPr>
        <p:spPr>
          <a:xfrm>
            <a:off x="6949440" y="1371600"/>
            <a:ext cx="4690872" cy="4160520"/>
          </a:xfrm>
          <a:prstGeom prst="roundRect">
            <a:avLst>
              <a:gd name="adj" fmla="val 2637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6948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4"/>
                </a:solidFill>
              </a:rPr>
              <a:t>ЦЕЛЬ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192024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Приложение само строит план по дням с учётом знаний, времени и дедлайна и перестраивает его при отставании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3520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4"/>
                </a:solidFill>
              </a:rPr>
              <a:t>ЦЕЛЕВАЯ АУДИТОРИЯ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38404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Студенты колледжей и вузов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Самоучки: программирование, языки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Те, кто меняет профессию</a:t>
            </a:r>
            <a:endParaRPr lang="en-US" sz="1500" dirty="0"/>
          </a:p>
        </p:txBody>
      </p:sp>
      <p:sp>
        <p:nvSpPr>
          <p:cNvPr id="20" name="Метка Направление"/>
          <p:cNvSpPr/>
          <p:nvPr/>
        </p:nvSpPr>
        <p:spPr>
          <a:xfrm>
            <a:off x="548640" y="5760720"/>
            <a:ext cx="2377440" cy="411480"/>
          </a:xfrm>
          <a:prstGeom prst="roundRect">
            <a:avLst>
              <a:gd name="adj" fmla="val 44444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Направление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944368" y="5760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Метка Тест"/>
          <p:cNvSpPr/>
          <p:nvPr/>
        </p:nvSpPr>
        <p:spPr>
          <a:xfrm>
            <a:off x="3355848" y="5760720"/>
            <a:ext cx="2377440" cy="411480"/>
          </a:xfrm>
          <a:prstGeom prst="roundRect">
            <a:avLst>
              <a:gd name="adj" fmla="val 44444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Тест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751576" y="5760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Метка Часы и дедлайн"/>
          <p:cNvSpPr/>
          <p:nvPr/>
        </p:nvSpPr>
        <p:spPr>
          <a:xfrm>
            <a:off x="6163056" y="5760720"/>
            <a:ext cx="2377440" cy="411480"/>
          </a:xfrm>
          <a:prstGeom prst="roundRect">
            <a:avLst>
              <a:gd name="adj" fmla="val 44444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Часы и дедлайн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558784" y="5760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Метка План по дням"/>
          <p:cNvSpPr/>
          <p:nvPr/>
        </p:nvSpPr>
        <p:spPr>
          <a:xfrm>
            <a:off x="8970264" y="5760720"/>
            <a:ext cx="237744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План по дням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Аналоги не строят персональный маршрут</a:t>
            </a:r>
            <a:endParaRPr lang="en-US" sz="3200" dirty="0"/>
          </a:p>
        </p:txBody>
      </p:sp>
      <p:graphicFrame>
        <p:nvGraphicFramePr>
          <p:cNvPr id="4" name="Таблица аналогов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00200"/>
                <a:gridCol w="1600200"/>
                <a:gridCol w="1691640"/>
                <a:gridCol w="1691640"/>
                <a:gridCol w="176479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Возможность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roadmap.sh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Duolingo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Stepik / Coursera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Notion / Todoist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Маршрут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Порядок тем по зависимостям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статичная схема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внутри курса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внутри курса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автоматически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Учёт имеющихся знаний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тест уровня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диагностический тест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План по дням под своё время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ежедневная цель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дедлайны курса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вручную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да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Перестройка при отставании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вручную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одной кнопкой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Работа без интернета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частично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да, всё локально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Вывод"/>
          <p:cNvSpPr/>
          <p:nvPr/>
        </p:nvSpPr>
        <p:spPr>
          <a:xfrm>
            <a:off x="548640" y="502920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5029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Вывод: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аналоги дают материалы или задачник, но не план под конкретного человека с перестройкой при отставании.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Сравнение составлено по публичным описаниям сервисов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Архитектура: три слоя Clean Architecture</a:t>
            </a:r>
            <a:endParaRPr lang="en-US" sz="3200" dirty="0"/>
          </a:p>
        </p:txBody>
      </p:sp>
      <p:sp>
        <p:nvSpPr>
          <p:cNvPr id="3" name="Слой Presentation"/>
          <p:cNvSpPr/>
          <p:nvPr/>
        </p:nvSpPr>
        <p:spPr>
          <a:xfrm>
            <a:off x="548640" y="1371600"/>
            <a:ext cx="51206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Presentation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Экраны Material 3, провайдеры Riverpod, go_router с redirect</a:t>
            </a:r>
            <a:endParaRPr lang="en-US" sz="1400" dirty="0"/>
          </a:p>
        </p:txBody>
      </p:sp>
      <p:sp>
        <p:nvSpPr>
          <p:cNvPr id="6" name="Слой Domain · чистый Dart"/>
          <p:cNvSpPr/>
          <p:nvPr/>
        </p:nvSpPr>
        <p:spPr>
          <a:xfrm>
            <a:off x="548640" y="2971800"/>
            <a:ext cx="512064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Domain · чистый Dart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Алгоритм плана, сущности, интерфейсы репозиториев. Не зависит от Flutter</a:t>
            </a:r>
            <a:endParaRPr lang="en-US" sz="1400" dirty="0"/>
          </a:p>
        </p:txBody>
      </p:sp>
      <p:sp>
        <p:nvSpPr>
          <p:cNvPr id="9" name="Слой Data"/>
          <p:cNvSpPr/>
          <p:nvPr/>
        </p:nvSpPr>
        <p:spPr>
          <a:xfrm>
            <a:off x="548640" y="4572000"/>
            <a:ext cx="51206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Data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1663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drift (SQLite), JSON-каталог тем, настройки, уведомления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↓ вызывает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4251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↑ реализует интерфейсы</a:t>
            </a:r>
            <a:endParaRPr lang="en-US" sz="1200" dirty="0"/>
          </a:p>
        </p:txBody>
      </p:sp>
      <p:sp>
        <p:nvSpPr>
          <p:cNvPr id="14" name="Выбор Состояние"/>
          <p:cNvSpPr/>
          <p:nvPr/>
        </p:nvSpPr>
        <p:spPr>
          <a:xfrm>
            <a:off x="6035040" y="1371600"/>
            <a:ext cx="5605272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</p:spPr>
      </p:sp>
      <p:sp>
        <p:nvSpPr>
          <p:cNvPr id="15" name="Рамка Состояние"/>
          <p:cNvSpPr/>
          <p:nvPr/>
        </p:nvSpPr>
        <p:spPr>
          <a:xfrm>
            <a:off x="6035040" y="1371600"/>
            <a:ext cx="5605272" cy="1051560"/>
          </a:xfrm>
          <a:prstGeom prst="roundRect">
            <a:avLst>
              <a:gd name="adj" fmla="val 10435"/>
            </a:avLst>
          </a:prstGeom>
          <a:ln w="12700">
            <a:solidFill>
              <a:srgbClr val="D5DC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4813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Состояние: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Riverpod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вместо BLoC, Provider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8288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Меньше шаблонного кода, чем BLoC; не зависит от BuildContext; зависимости подменяются в тестах</a:t>
            </a:r>
            <a:endParaRPr lang="en-US" sz="1300" dirty="0"/>
          </a:p>
        </p:txBody>
      </p:sp>
      <p:sp>
        <p:nvSpPr>
          <p:cNvPr id="18" name="Выбор Хранение"/>
          <p:cNvSpPr/>
          <p:nvPr/>
        </p:nvSpPr>
        <p:spPr>
          <a:xfrm>
            <a:off x="6035040" y="2560320"/>
            <a:ext cx="5605272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</p:spPr>
      </p:sp>
      <p:sp>
        <p:nvSpPr>
          <p:cNvPr id="19" name="Рамка Хранение"/>
          <p:cNvSpPr/>
          <p:nvPr/>
        </p:nvSpPr>
        <p:spPr>
          <a:xfrm>
            <a:off x="6035040" y="2560320"/>
            <a:ext cx="5605272" cy="1051560"/>
          </a:xfrm>
          <a:prstGeom prst="roundRect">
            <a:avLst>
              <a:gd name="adj" fmla="val 10435"/>
            </a:avLst>
          </a:prstGeom>
          <a:ln w="12700">
            <a:solidFill>
              <a:srgbClr val="D5DC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26700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Хранение: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drift (SQLite)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вместо Hive, Firebase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0175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Данные связаны: пользователь → планы → занятия. Нужны SQL-запросы и транзакции. Firebase требует облака</a:t>
            </a:r>
            <a:endParaRPr lang="en-US" sz="1300" dirty="0"/>
          </a:p>
        </p:txBody>
      </p:sp>
      <p:sp>
        <p:nvSpPr>
          <p:cNvPr id="22" name="Выбор Навигация"/>
          <p:cNvSpPr/>
          <p:nvPr/>
        </p:nvSpPr>
        <p:spPr>
          <a:xfrm>
            <a:off x="6035040" y="3749040"/>
            <a:ext cx="5605272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</p:spPr>
      </p:sp>
      <p:sp>
        <p:nvSpPr>
          <p:cNvPr id="23" name="Рамка Навигация"/>
          <p:cNvSpPr/>
          <p:nvPr/>
        </p:nvSpPr>
        <p:spPr>
          <a:xfrm>
            <a:off x="6035040" y="3749040"/>
            <a:ext cx="5605272" cy="1051560"/>
          </a:xfrm>
          <a:prstGeom prst="roundRect">
            <a:avLst>
              <a:gd name="adj" fmla="val 10435"/>
            </a:avLst>
          </a:prstGeom>
          <a:ln w="12700">
            <a:solidFill>
              <a:srgbClr val="D5DC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63640" y="38587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Навигация: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go_router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вместо Navigator 1.0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42062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Декларативные маршруты, redirect закрывает экраны без входа</a:t>
            </a:r>
            <a:endParaRPr lang="en-US" sz="1300" dirty="0"/>
          </a:p>
        </p:txBody>
      </p:sp>
      <p:sp>
        <p:nvSpPr>
          <p:cNvPr id="26" name="Выбор Пароли"/>
          <p:cNvSpPr/>
          <p:nvPr/>
        </p:nvSpPr>
        <p:spPr>
          <a:xfrm>
            <a:off x="6035040" y="4937760"/>
            <a:ext cx="5605272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</p:spPr>
      </p:sp>
      <p:sp>
        <p:nvSpPr>
          <p:cNvPr id="27" name="Рамка Пароли"/>
          <p:cNvSpPr/>
          <p:nvPr/>
        </p:nvSpPr>
        <p:spPr>
          <a:xfrm>
            <a:off x="6035040" y="4937760"/>
            <a:ext cx="5605272" cy="1051560"/>
          </a:xfrm>
          <a:prstGeom prst="roundRect">
            <a:avLst>
              <a:gd name="adj" fmla="val 10435"/>
            </a:avLst>
          </a:prstGeom>
          <a:ln w="12700">
            <a:solidFill>
              <a:srgbClr val="D5DC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50474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Пароли: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PBKDF2 локально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вместо Firebase Auth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53949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Вход работает офлайн, пароль хранится только как хэш с солью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Алгоритм: план из графа тем за пять шагов</a:t>
            </a:r>
            <a:endParaRPr lang="en-US" sz="3200" dirty="0"/>
          </a:p>
        </p:txBody>
      </p:sp>
      <p:sp>
        <p:nvSpPr>
          <p:cNvPr id="3" name="Связь шагов"/>
          <p:cNvSpPr/>
          <p:nvPr/>
        </p:nvSpPr>
        <p:spPr>
          <a:xfrm>
            <a:off x="1463040" y="1737360"/>
            <a:ext cx="888796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4" name="Номер 1"/>
          <p:cNvSpPr/>
          <p:nvPr/>
        </p:nvSpPr>
        <p:spPr>
          <a:xfrm>
            <a:off x="1097280" y="13716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84048" y="22402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Граф тем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Тема — вершина, ребро A → B: A нужно знать до B</a:t>
            </a:r>
            <a:endParaRPr lang="en-US" sz="1300" dirty="0"/>
          </a:p>
        </p:txBody>
      </p:sp>
      <p:sp>
        <p:nvSpPr>
          <p:cNvPr id="7" name="Номер 2"/>
          <p:cNvSpPr/>
          <p:nvPr/>
        </p:nvSpPr>
        <p:spPr>
          <a:xfrm>
            <a:off x="3319272" y="13716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2402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Исключить известное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679192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Верный ответ в тесте: тема и её предшественники изучены</a:t>
            </a:r>
            <a:endParaRPr lang="en-US" sz="1300" dirty="0"/>
          </a:p>
        </p:txBody>
      </p:sp>
      <p:sp>
        <p:nvSpPr>
          <p:cNvPr id="10" name="Номер 3"/>
          <p:cNvSpPr/>
          <p:nvPr/>
        </p:nvSpPr>
        <p:spPr>
          <a:xfrm>
            <a:off x="5541264" y="13716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28032" y="22402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Алгоритм Кана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901184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Топологическая сортировка, при равенстве — по сложности. Цикл обнаруживается</a:t>
            </a:r>
            <a:endParaRPr lang="en-US" sz="1300" dirty="0"/>
          </a:p>
        </p:txBody>
      </p:sp>
      <p:sp>
        <p:nvSpPr>
          <p:cNvPr id="13" name="Номер 4"/>
          <p:cNvSpPr/>
          <p:nvPr/>
        </p:nvSpPr>
        <p:spPr>
          <a:xfrm>
            <a:off x="7763256" y="13716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050024" y="22402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Раскладка по дням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123176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Лимит в день = часы в неделю / учебные дни, части от 30 минут</a:t>
            </a:r>
            <a:endParaRPr lang="en-US" sz="1300" dirty="0"/>
          </a:p>
        </p:txBody>
      </p:sp>
      <p:sp>
        <p:nvSpPr>
          <p:cNvPr id="16" name="Номер 5"/>
          <p:cNvSpPr/>
          <p:nvPr/>
        </p:nvSpPr>
        <p:spPr>
          <a:xfrm>
            <a:off x="9985248" y="13716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272016" y="22402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Срок и повторения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345168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Повторения через 1, 3, 7 дней. Не успеваем — подбираем часы</a:t>
            </a:r>
            <a:endParaRPr lang="en-US" sz="1300" dirty="0"/>
          </a:p>
        </p:txBody>
      </p:sp>
      <p:sp>
        <p:nvSpPr>
          <p:cNvPr id="19" name="Факт тем в 4 направлениях"/>
          <p:cNvSpPr/>
          <p:nvPr/>
        </p:nvSpPr>
        <p:spPr>
          <a:xfrm>
            <a:off x="548640" y="4114800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297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75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120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тем в 4 направлениях</a:t>
            </a:r>
            <a:endParaRPr lang="en-US" sz="1400" dirty="0"/>
          </a:p>
        </p:txBody>
      </p:sp>
      <p:sp>
        <p:nvSpPr>
          <p:cNvPr id="22" name="Факт зависимостей между темами"/>
          <p:cNvSpPr/>
          <p:nvPr/>
        </p:nvSpPr>
        <p:spPr>
          <a:xfrm>
            <a:off x="3364992" y="4114800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593592" y="4297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113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3593592" y="5120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зависимостей между темами</a:t>
            </a:r>
            <a:endParaRPr lang="en-US" sz="1400" dirty="0"/>
          </a:p>
        </p:txBody>
      </p:sp>
      <p:sp>
        <p:nvSpPr>
          <p:cNvPr id="25" name="Факт дней до повторений"/>
          <p:cNvSpPr/>
          <p:nvPr/>
        </p:nvSpPr>
        <p:spPr>
          <a:xfrm>
            <a:off x="6181344" y="4114800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9944" y="4297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 · 3 · 7</a:t>
            </a:r>
            <a:endParaRPr lang="en-US" sz="4000" dirty="0"/>
          </a:p>
        </p:txBody>
      </p:sp>
      <p:sp>
        <p:nvSpPr>
          <p:cNvPr id="27" name="Text 25"/>
          <p:cNvSpPr txBox="1"/>
          <p:nvPr/>
        </p:nvSpPr>
        <p:spPr>
          <a:xfrm>
            <a:off x="6409944" y="5120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дней до повторений</a:t>
            </a:r>
            <a:endParaRPr lang="en-US" sz="1400" dirty="0"/>
          </a:p>
        </p:txBody>
      </p:sp>
      <p:sp>
        <p:nvSpPr>
          <p:cNvPr id="28" name="Факт юнит-теста алгоритма"/>
          <p:cNvSpPr/>
          <p:nvPr/>
        </p:nvSpPr>
        <p:spPr>
          <a:xfrm>
            <a:off x="8997696" y="4114800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26296" y="4297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32</a:t>
            </a:r>
            <a:endParaRPr lang="en-US" sz="4000" dirty="0"/>
          </a:p>
        </p:txBody>
      </p:sp>
      <p:sp>
        <p:nvSpPr>
          <p:cNvPr id="30" name="Text 28"/>
          <p:cNvSpPr txBox="1"/>
          <p:nvPr/>
        </p:nvSpPr>
        <p:spPr>
          <a:xfrm>
            <a:off x="9226296" y="5120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юнит-теста алгоритма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UI/UX: от сценария пользователя к экранам</a:t>
            </a:r>
            <a:endParaRPr lang="en-US" sz="3200" dirty="0"/>
          </a:p>
        </p:txBody>
      </p:sp>
      <p:sp>
        <p:nvSpPr>
          <p:cNvPr id="3" name="Метка Splash"/>
          <p:cNvSpPr/>
          <p:nvPr/>
        </p:nvSpPr>
        <p:spPr>
          <a:xfrm>
            <a:off x="548640" y="1280160"/>
            <a:ext cx="100584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Splash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12801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5" name="Метка Вход"/>
          <p:cNvSpPr/>
          <p:nvPr/>
        </p:nvSpPr>
        <p:spPr>
          <a:xfrm>
            <a:off x="1920240" y="1280160"/>
            <a:ext cx="82296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Вход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2801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Метка Направление"/>
          <p:cNvSpPr/>
          <p:nvPr/>
        </p:nvSpPr>
        <p:spPr>
          <a:xfrm>
            <a:off x="3108960" y="1280160"/>
            <a:ext cx="137160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Направление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2801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Метка Тест"/>
          <p:cNvSpPr/>
          <p:nvPr/>
        </p:nvSpPr>
        <p:spPr>
          <a:xfrm>
            <a:off x="4846320" y="1280160"/>
            <a:ext cx="82296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Тест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2801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Метка Расписание"/>
          <p:cNvSpPr/>
          <p:nvPr/>
        </p:nvSpPr>
        <p:spPr>
          <a:xfrm>
            <a:off x="6035040" y="1280160"/>
            <a:ext cx="132588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Расписание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12801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Метка Главная"/>
          <p:cNvSpPr/>
          <p:nvPr/>
        </p:nvSpPr>
        <p:spPr>
          <a:xfrm>
            <a:off x="7726680" y="1280160"/>
            <a:ext cx="105156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Главная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0" y="128016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⇄ План, Темы, Статистика, Профиль</a:t>
            </a:r>
            <a:endParaRPr lang="en-US" sz="1300" dirty="0"/>
          </a:p>
        </p:txBody>
      </p:sp>
      <p:pic>
        <p:nvPicPr>
          <p:cNvPr id="15" name="Скриншот 05_home" descr="Главна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1936368" cy="40690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365760" y="6126480"/>
            <a:ext cx="2302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Главная</a:t>
            </a:r>
            <a:endParaRPr lang="en-US" sz="1200" dirty="0"/>
          </a:p>
        </p:txBody>
      </p:sp>
      <p:pic>
        <p:nvPicPr>
          <p:cNvPr id="17" name="Скриншот 06_plan" descr="План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328" y="1965960"/>
            <a:ext cx="1936368" cy="406908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576448" y="6126480"/>
            <a:ext cx="2302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План</a:t>
            </a:r>
            <a:endParaRPr lang="en-US" sz="1200" dirty="0"/>
          </a:p>
        </p:txBody>
      </p:sp>
      <p:pic>
        <p:nvPicPr>
          <p:cNvPr id="19" name="Скриншот 20_home_dark" descr="Тёмная тем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015" y="1965960"/>
            <a:ext cx="1936368" cy="40690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787135" y="6126480"/>
            <a:ext cx="2302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Тёмная тема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7363583" y="1965960"/>
            <a:ext cx="4276729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Material 3, светлая и тёмная тема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Тёмно-синий #1A3A8F — спокойный фон, оранжевый #F57C00 — действия и прогресс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 вкладок внизу: всё главное в один тап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На главной только то, что нужно сегодня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Ошибки под каждым полем, пустые состояния с подсказкой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Адаптивность: боковая панель на широком экране, поворот экрана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7363583" y="5715000"/>
            <a:ext cx="42767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Кликабельный прототип: docs/concept/wireframes.html, user flow: docs/concept/user_flow.md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Roadmap: от концепции к релизу</a:t>
            </a:r>
            <a:endParaRPr lang="en-US" sz="3200" dirty="0"/>
          </a:p>
        </p:txBody>
      </p:sp>
      <p:sp>
        <p:nvSpPr>
          <p:cNvPr id="3" name="Линия времени"/>
          <p:cNvSpPr/>
          <p:nvPr/>
        </p:nvSpPr>
        <p:spPr>
          <a:xfrm>
            <a:off x="1463040" y="1828800"/>
            <a:ext cx="888796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4" name="Номер 0"/>
          <p:cNvSpPr/>
          <p:nvPr/>
        </p:nvSpPr>
        <p:spPr>
          <a:xfrm>
            <a:off x="1097280" y="14630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ЭТАП 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Концепция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108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Тема, аналоги, архитектура, прототип</a:t>
            </a:r>
            <a:endParaRPr lang="en-US" sz="1300" dirty="0"/>
          </a:p>
        </p:txBody>
      </p:sp>
      <p:sp>
        <p:nvSpPr>
          <p:cNvPr id="8" name="Номер 1"/>
          <p:cNvSpPr/>
          <p:nvPr/>
        </p:nvSpPr>
        <p:spPr>
          <a:xfrm>
            <a:off x="3319272" y="14630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679192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СЕМЕСТР 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679192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Авторизация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3108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Splash, регистрация, вход, навигация, профиль, выход</a:t>
            </a:r>
            <a:endParaRPr lang="en-US" sz="1300" dirty="0"/>
          </a:p>
        </p:txBody>
      </p:sp>
      <p:sp>
        <p:nvSpPr>
          <p:cNvPr id="12" name="Номер 2"/>
          <p:cNvSpPr/>
          <p:nvPr/>
        </p:nvSpPr>
        <p:spPr>
          <a:xfrm>
            <a:off x="5541264" y="14630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901184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СЕМЕСТР 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901184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Основной раздел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901184" y="3108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Генератор плана, онбординг и тест, главная, введение и глава 1</a:t>
            </a:r>
            <a:endParaRPr lang="en-US" sz="1300" dirty="0"/>
          </a:p>
        </p:txBody>
      </p:sp>
      <p:sp>
        <p:nvSpPr>
          <p:cNvPr id="16" name="Номер 3"/>
          <p:cNvSpPr/>
          <p:nvPr/>
        </p:nvSpPr>
        <p:spPr>
          <a:xfrm>
            <a:off x="7763256" y="14630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123176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СЕМЕСТР 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123176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Полный функционал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123176" y="3108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Перепланирование, Pomodoro, CRUD, поиск, уведомления, графики</a:t>
            </a:r>
            <a:endParaRPr lang="en-US" sz="1300" dirty="0"/>
          </a:p>
        </p:txBody>
      </p:sp>
      <p:sp>
        <p:nvSpPr>
          <p:cNvPr id="20" name="Номер 4"/>
          <p:cNvSpPr/>
          <p:nvPr/>
        </p:nvSpPr>
        <p:spPr>
          <a:xfrm>
            <a:off x="9985248" y="14630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345168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СЕМЕСТР 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345168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Релиз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345168" y="3108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Тесты, релизный APK, практическая глава, итоговая защита</a:t>
            </a:r>
            <a:endParaRPr lang="en-US" sz="1300" dirty="0"/>
          </a:p>
        </p:txBody>
      </p:sp>
      <p:sp>
        <p:nvSpPr>
          <p:cNvPr id="24" name="Итог"/>
          <p:cNvSpPr/>
          <p:nvPr/>
        </p:nvSpPr>
        <p:spPr>
          <a:xfrm>
            <a:off x="548640" y="461772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6177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«Маршрут» превращает хаотичное самообучение в план по дням. </a:t>
            </a:r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Работает офлайн, запускается командой flutter run. Спасибо за внимание!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Маршрут">
  <a:themeElements>
    <a:clrScheme name="Маршрут">
      <a:dk1>
        <a:srgbClr val="0F1D3D"/>
      </a:dk1>
      <a:lt1>
        <a:srgbClr val="FFFFFF"/>
      </a:lt1>
      <a:dk2>
        <a:srgbClr val="1A3A8F"/>
      </a:dk2>
      <a:lt2>
        <a:srgbClr val="EEF2FB"/>
      </a:lt2>
      <a:accent1>
        <a:srgbClr val="F57C00"/>
      </a:accent1>
      <a:accent2>
        <a:srgbClr val="1A3A8F"/>
      </a:accent2>
      <a:accent3>
        <a:srgbClr val="2E9D5B"/>
      </a:accent3>
      <a:accent4>
        <a:srgbClr val="FFA040"/>
      </a:accent4>
      <a:accent5>
        <a:srgbClr val="9DB4FF"/>
      </a:accent5>
      <a:accent6>
        <a:srgbClr val="5A6B8C"/>
      </a:accent6>
      <a:hlink>
        <a:srgbClr val="1A3A8F"/>
      </a:hlink>
      <a:folHlink>
        <a:srgbClr val="5A6B8C"/>
      </a:folHlink>
    </a:clrScheme>
    <a:fontScheme name="Маршрут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Группа ПО2410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Маршрут — защита концепции</dc:title>
  <dc:subject>PptxGenJS Presentation</dc:subject>
  <dc:creator>Баринов Николай Владимирович</dc:creator>
  <cp:lastModifiedBy>Баринов Николай Владимирович</cp:lastModifiedBy>
  <cp:revision>1</cp:revision>
  <dcterms:created xsi:type="dcterms:W3CDTF">2026-10-11T21:07:46Z</dcterms:created>
  <dcterms:modified xsi:type="dcterms:W3CDTF">2026-10-11T21:07:46Z</dcterms:modified>
</cp:coreProperties>
</file>